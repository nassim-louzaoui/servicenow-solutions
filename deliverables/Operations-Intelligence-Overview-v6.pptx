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28016"/>
            <a:ext cx="4937760" cy="55778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8961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511698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1032266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1552834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2073402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593970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3114538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3635106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5404653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5925312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6445880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6966448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7487016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8007584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8528152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9048720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199" y="856701"/>
            <a:ext cx="832470" cy="3459907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81945" y="3259104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Intelligence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381945" y="438912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ServiceNow Intelligent Automation Initiative — Infosys Operations</a:t>
            </a:r>
            <a:endParaRPr lang="en-US" sz="9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5884" y="4659782"/>
            <a:ext cx="909645" cy="4652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961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048720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01168" y="146304"/>
            <a:ext cx="8723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Agenda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1168" y="640080"/>
            <a:ext cx="8723376" cy="10973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" y="768096"/>
            <a:ext cx="7132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50976" y="932688"/>
            <a:ext cx="35295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Context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1609344"/>
            <a:ext cx="4279392" cy="10973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01168" y="1755648"/>
            <a:ext cx="7132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50976" y="1920240"/>
            <a:ext cx="35295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" y="2596896"/>
            <a:ext cx="4279392" cy="10973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01168" y="2743200"/>
            <a:ext cx="7132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950976" y="2907792"/>
            <a:ext cx="35295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of Automation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1168" y="3584448"/>
            <a:ext cx="4279392" cy="10973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01168" y="3730752"/>
            <a:ext cx="7132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50976" y="3895344"/>
            <a:ext cx="35295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Desired State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1168" y="4572000"/>
            <a:ext cx="4279392" cy="10973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663440" y="768096"/>
            <a:ext cx="7132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413248" y="932688"/>
            <a:ext cx="35295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1609344"/>
            <a:ext cx="4279392" cy="10973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663440" y="1755648"/>
            <a:ext cx="7132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413248" y="1920240"/>
            <a:ext cx="35295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— Current Progress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2596896"/>
            <a:ext cx="4279392" cy="10973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663440" y="2743200"/>
            <a:ext cx="7132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413248" y="2907792"/>
            <a:ext cx="35295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Roadmap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584448"/>
            <a:ext cx="4279392" cy="10973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663440" y="3730752"/>
            <a:ext cx="7132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5413248" y="3895344"/>
            <a:ext cx="35295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Repository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4572000"/>
            <a:ext cx="4279392" cy="10973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5884" y="4659782"/>
            <a:ext cx="909645" cy="465247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228600" y="4754880"/>
            <a:ext cx="46634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961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048720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01168" y="146304"/>
            <a:ext cx="8723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Context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1168" y="694944"/>
            <a:ext cx="4023360" cy="310896"/>
          </a:xfrm>
          <a:prstGeom prst="rect">
            <a:avLst/>
          </a:prstGeom>
          <a:solidFill>
            <a:srgbClr val="59595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29184" y="694944"/>
            <a:ext cx="3895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" y="1005840"/>
            <a:ext cx="4023360" cy="3566160"/>
          </a:xfrm>
          <a:prstGeom prst="rect">
            <a:avLst/>
          </a:prstGeom>
          <a:solidFill>
            <a:srgbClr val="F5FAFF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919472" y="694944"/>
            <a:ext cx="4023360" cy="310896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047488" y="694944"/>
            <a:ext cx="3895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OPERATIONS INTELLIGENCE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19472" y="1005840"/>
            <a:ext cx="4023360" cy="3566160"/>
          </a:xfrm>
          <a:prstGeom prst="rect">
            <a:avLst/>
          </a:prstGeom>
          <a:solidFill>
            <a:srgbClr val="EBF4F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242816" y="2404872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65760" y="1280160"/>
            <a:ext cx="91440" cy="91440"/>
          </a:xfrm>
          <a:prstGeom prst="rect">
            <a:avLst/>
          </a:prstGeom>
          <a:solidFill>
            <a:srgbClr val="595959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30352" y="1170432"/>
            <a:ext cx="36027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tasks rebuilt manually every cycle — no automation path exists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029968"/>
            <a:ext cx="91440" cy="91440"/>
          </a:xfrm>
          <a:prstGeom prst="rect">
            <a:avLst/>
          </a:prstGeom>
          <a:solidFill>
            <a:srgbClr val="595959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0352" y="1920240"/>
            <a:ext cx="36027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Agent and platform automation capabilities entirely unused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779776"/>
            <a:ext cx="91440" cy="91440"/>
          </a:xfrm>
          <a:prstGeom prst="rect">
            <a:avLst/>
          </a:prstGeom>
          <a:solidFill>
            <a:srgbClr val="595959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30352" y="2670048"/>
            <a:ext cx="36027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reconciliation between ServiceNow and external sources is manual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529584"/>
            <a:ext cx="91440" cy="91440"/>
          </a:xfrm>
          <a:prstGeom prst="rect">
            <a:avLst/>
          </a:prstGeom>
          <a:solidFill>
            <a:srgbClr val="595959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30352" y="3419856"/>
            <a:ext cx="36027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expertise held by a small number of individuals across all teams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84064" y="1280160"/>
            <a:ext cx="91440" cy="91440"/>
          </a:xfrm>
          <a:prstGeom prst="ellipse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248656" y="1170432"/>
            <a:ext cx="36027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recurring task automated once executes permanently on schedule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84064" y="2029968"/>
            <a:ext cx="91440" cy="91440"/>
          </a:xfrm>
          <a:prstGeom prst="ellipse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248656" y="1920240"/>
            <a:ext cx="36027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dedicated Virtual Agent provides natural-language access to all capabilities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84064" y="2779776"/>
            <a:ext cx="91440" cy="91440"/>
          </a:xfrm>
          <a:prstGeom prst="ellipse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248656" y="2670048"/>
            <a:ext cx="36027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automated layer maps and merges data sources without manual intervention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84064" y="3529584"/>
            <a:ext cx="91440" cy="91440"/>
          </a:xfrm>
          <a:prstGeom prst="ellipse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248656" y="3419856"/>
            <a:ext cx="36027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capability is embedded in the system and accessible to all teams</a:t>
            </a:r>
            <a:endParaRPr lang="en-US" sz="95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5884" y="4659782"/>
            <a:ext cx="909645" cy="465247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228600" y="4754880"/>
            <a:ext cx="46634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146304"/>
            <a:ext cx="8723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-8961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048720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01168" y="713232"/>
            <a:ext cx="8741664" cy="868680"/>
          </a:xfrm>
          <a:prstGeom prst="rect">
            <a:avLst/>
          </a:prstGeom>
          <a:solidFill>
            <a:srgbClr val="F5FA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01168" y="914400"/>
            <a:ext cx="658368" cy="29260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01168" y="91440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74980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7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Automated Consolidation Layer Between Data Sources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05840" y="9875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teams export ServiceNow and Flexera data independently. No common field headers exist, requiring manual data cleansing and reconciliation each cycle.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82896" y="932688"/>
            <a:ext cx="310896" cy="29260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82896" y="89611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21808" y="74980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21808" y="969264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automated layer maps field headers across both sources and merges outputs automatically, eliminating manual reconciliation and ensuring consistent reporting.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01168" y="1709927"/>
            <a:ext cx="8741664" cy="868680"/>
          </a:xfrm>
          <a:prstGeom prst="rect">
            <a:avLst/>
          </a:prstGeom>
          <a:solidFill>
            <a:srgbClr val="EBF4FB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01168" y="1911095"/>
            <a:ext cx="658368" cy="29260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01168" y="1911095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05840" y="1746503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7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Agent Capability Active but Not Implemented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05840" y="1984247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Virtual Agent SKU is enabled on all instances but no implementation exists, leaving operations teams without a conversational interface to automation capabilities.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82896" y="1929383"/>
            <a:ext cx="310896" cy="29260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882896" y="1892807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321808" y="1746503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21808" y="1965959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Intelligence deploys the Virtual Agent as the primary interface, enabling every team member to create and manage automations through natural language.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01168" y="2706623"/>
            <a:ext cx="8741664" cy="868680"/>
          </a:xfrm>
          <a:prstGeom prst="rect">
            <a:avLst/>
          </a:prstGeom>
          <a:solidFill>
            <a:srgbClr val="F5FAFF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201168" y="2907791"/>
            <a:ext cx="658368" cy="292608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01168" y="2907791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05840" y="2743199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7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Manual Tasks Displacing Project Delivery Capacity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05840" y="2980943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Reports, dashboards, and data extracts are rebuilt manually every cycle. The cumulative overhead displaces capacity that would otherwise reach project deliverables.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82896" y="2926079"/>
            <a:ext cx="310896" cy="29260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882896" y="2889503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321808" y="2743199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21808" y="2962655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recurring task requested once is automated on a permanent basis. A single request eliminates the associated manual effort across all subsequent cycles.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01168" y="3703319"/>
            <a:ext cx="8741664" cy="868680"/>
          </a:xfrm>
          <a:prstGeom prst="rect">
            <a:avLst/>
          </a:prstGeom>
          <a:solidFill>
            <a:srgbClr val="EBF4FB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201168" y="3904487"/>
            <a:ext cx="658368" cy="292608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01168" y="3904487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05840" y="3739895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7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Blockers Lack a Structured Resolution Path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005840" y="3977639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can identify blockers in business terms but not translate them into technical specifications. Issues remain unresolved before reaching an approver.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82896" y="3922775"/>
            <a:ext cx="310896" cy="29260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882896" y="3886199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321808" y="3739895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21808" y="3959351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Operations Assistant converts a plain-English description into a specification and routes it automatically to the appropriate approver for action.</a:t>
            </a:r>
            <a:endParaRPr lang="en-US" sz="900" dirty="0"/>
          </a:p>
        </p:txBody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5884" y="4659782"/>
            <a:ext cx="909645" cy="465247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228600" y="4754880"/>
            <a:ext cx="46634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146304"/>
            <a:ext cx="8723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of Automation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-8961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048720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01168" y="694944"/>
            <a:ext cx="8741664" cy="731520"/>
          </a:xfrm>
          <a:prstGeom prst="rect">
            <a:avLst/>
          </a:prstGeom>
          <a:solidFill>
            <a:srgbClr val="F5FA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01168" y="786384"/>
            <a:ext cx="54864" cy="548640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84048" y="758952"/>
            <a:ext cx="8449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7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manual tasks become permanent, single-request automations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4048" y="1024128"/>
            <a:ext cx="8449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report, dashboard, or extract rebuilt manually each cycle is requested once and automated on a permanent basis. The cost of the work moves from recurring to one-time.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1168" y="1481328"/>
            <a:ext cx="8741664" cy="731520"/>
          </a:xfrm>
          <a:prstGeom prst="rect">
            <a:avLst/>
          </a:prstGeom>
          <a:solidFill>
            <a:srgbClr val="EBF4FB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01168" y="1572768"/>
            <a:ext cx="54864" cy="548640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84048" y="1545336"/>
            <a:ext cx="8449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7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blockers are resolved without technical mediation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1810512"/>
            <a:ext cx="8449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requirement stated in plain English is converted into a specification and routed to the appropriate approver. The articulation barrier that strands issues today is removed.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01168" y="2267712"/>
            <a:ext cx="8741664" cy="731520"/>
          </a:xfrm>
          <a:prstGeom prst="rect">
            <a:avLst/>
          </a:prstGeom>
          <a:solidFill>
            <a:srgbClr val="F5FAFF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01168" y="2359152"/>
            <a:ext cx="54864" cy="548640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84048" y="2331720"/>
            <a:ext cx="8449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7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Dependence on the availability of scarce specialists is eliminated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4048" y="2596896"/>
            <a:ext cx="8449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capability is available at all times through the Operations Assistant. Expertise that currently resides in specific individuals is accessible to all teams equally.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01168" y="3054096"/>
            <a:ext cx="8741664" cy="731520"/>
          </a:xfrm>
          <a:prstGeom prst="rect">
            <a:avLst/>
          </a:prstGeom>
          <a:solidFill>
            <a:srgbClr val="EBF4FB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201168" y="3145536"/>
            <a:ext cx="54864" cy="548640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84048" y="3118104"/>
            <a:ext cx="8449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7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existing ServiceNow investment is realised as an automation platform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4048" y="3383280"/>
            <a:ext cx="8449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teams access automation through a natural-language interface requiring no prior technical knowledge. Platform adoption increases through use, not training programmes.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01168" y="3840480"/>
            <a:ext cx="8741664" cy="731520"/>
          </a:xfrm>
          <a:prstGeom prst="rect">
            <a:avLst/>
          </a:prstGeom>
          <a:solidFill>
            <a:srgbClr val="F5FAFF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201168" y="3931920"/>
            <a:ext cx="54864" cy="548640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84048" y="3904488"/>
            <a:ext cx="8449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7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operates as an accelerator of delivery, not a constraint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84048" y="4169664"/>
            <a:ext cx="8449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retains real-time visibility and immediate override authority. Approval routing, deadline management, and escalation are handled automatically at all times.</a:t>
            </a:r>
            <a:endParaRPr lang="en-US" sz="95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5884" y="4659782"/>
            <a:ext cx="909645" cy="465247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228600" y="4754880"/>
            <a:ext cx="46634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146304"/>
            <a:ext cx="8723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Desired State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-8961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048720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01168" y="676656"/>
            <a:ext cx="4279392" cy="347472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29184" y="676656"/>
            <a:ext cx="4151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OPERATIONS TEAM MEMBERS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01168" y="1024128"/>
            <a:ext cx="4279392" cy="1463040"/>
          </a:xfrm>
          <a:prstGeom prst="rect">
            <a:avLst/>
          </a:prstGeom>
          <a:solidFill>
            <a:srgbClr val="F5FAFF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84048" y="1335024"/>
            <a:ext cx="82296" cy="82296"/>
          </a:xfrm>
          <a:prstGeom prst="ellipse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152144"/>
            <a:ext cx="38039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plain-English requirement is fulfilled as a permanent automation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" y="2011680"/>
            <a:ext cx="82296" cy="82296"/>
          </a:xfrm>
          <a:prstGeom prst="ellipse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1828800"/>
            <a:ext cx="38039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group automations accessible from a single personalised workspace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676656"/>
            <a:ext cx="4279392" cy="347472"/>
          </a:xfrm>
          <a:prstGeom prst="rect">
            <a:avLst/>
          </a:prstGeom>
          <a:solidFill>
            <a:srgbClr val="2670C3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791456" y="676656"/>
            <a:ext cx="4151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DESIGNATED CREATORS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024128"/>
            <a:ext cx="4279392" cy="1463040"/>
          </a:xfrm>
          <a:prstGeom prst="rect">
            <a:avLst/>
          </a:prstGeom>
          <a:solidFill>
            <a:srgbClr val="F5FAFF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846320" y="1335024"/>
            <a:ext cx="82296" cy="82296"/>
          </a:xfrm>
          <a:prstGeom prst="ellipse">
            <a:avLst/>
          </a:prstGeom>
          <a:solidFill>
            <a:srgbClr val="2670C3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010912" y="1152144"/>
            <a:ext cx="38039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Automations designed through a structured guided conversation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2011680"/>
            <a:ext cx="82296" cy="82296"/>
          </a:xfrm>
          <a:prstGeom prst="ellipse">
            <a:avLst/>
          </a:prstGeom>
          <a:solidFill>
            <a:srgbClr val="2670C3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010912" y="1828800"/>
            <a:ext cx="38039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automation lifecycle managed from a single studio interface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01168" y="2560320"/>
            <a:ext cx="4279392" cy="347472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29184" y="2560320"/>
            <a:ext cx="4151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LEADERSHIP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01168" y="2907792"/>
            <a:ext cx="4279392" cy="1664207"/>
          </a:xfrm>
          <a:prstGeom prst="rect">
            <a:avLst/>
          </a:prstGeom>
          <a:solidFill>
            <a:srgbClr val="F5FAFF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384048" y="3218688"/>
            <a:ext cx="82296" cy="82296"/>
          </a:xfrm>
          <a:prstGeom prst="ellipse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48640" y="3035808"/>
            <a:ext cx="38039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group automations visible in real time from a single governance view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4048" y="3895344"/>
            <a:ext cx="82296" cy="82296"/>
          </a:xfrm>
          <a:prstGeom prst="ellipse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48640" y="3712464"/>
            <a:ext cx="38039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Impactful changes route automatically for approval before defined deadlines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560320"/>
            <a:ext cx="4279392" cy="347472"/>
          </a:xfrm>
          <a:prstGeom prst="rect">
            <a:avLst/>
          </a:prstGeom>
          <a:solidFill>
            <a:srgbClr val="2670C3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791456" y="2560320"/>
            <a:ext cx="4151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ORGANISATION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2907792"/>
            <a:ext cx="4279392" cy="1664207"/>
          </a:xfrm>
          <a:prstGeom prst="rect">
            <a:avLst/>
          </a:prstGeom>
          <a:solidFill>
            <a:srgbClr val="F5FAFF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846320" y="3218688"/>
            <a:ext cx="82296" cy="82296"/>
          </a:xfrm>
          <a:prstGeom prst="ellipse">
            <a:avLst/>
          </a:prstGeom>
          <a:solidFill>
            <a:srgbClr val="2670C3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010912" y="3035808"/>
            <a:ext cx="38039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Recovered capacity directed to project delivery rather than overhead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3895344"/>
            <a:ext cx="82296" cy="82296"/>
          </a:xfrm>
          <a:prstGeom prst="ellipse">
            <a:avLst/>
          </a:prstGeom>
          <a:solidFill>
            <a:srgbClr val="2670C3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010912" y="3712464"/>
            <a:ext cx="38039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 realised as the complete automation platform it was designed to be</a:t>
            </a:r>
            <a:endParaRPr lang="en-US" sz="100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5884" y="4659782"/>
            <a:ext cx="909645" cy="465247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228600" y="4754880"/>
            <a:ext cx="46634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146304"/>
            <a:ext cx="8723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-8961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048720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01168" y="676656"/>
            <a:ext cx="4279392" cy="347472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29184" y="676656"/>
            <a:ext cx="4151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UNIFIED PLATFORM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01168" y="1024128"/>
            <a:ext cx="4279392" cy="1463040"/>
          </a:xfrm>
          <a:prstGeom prst="rect">
            <a:avLst/>
          </a:prstGeom>
          <a:solidFill>
            <a:srgbClr val="F5FAFF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84048" y="1335024"/>
            <a:ext cx="82296" cy="82296"/>
          </a:xfrm>
          <a:prstGeom prst="ellipse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152144"/>
            <a:ext cx="38039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operations teams access a dedicated portal at a single URL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" y="2011680"/>
            <a:ext cx="82296" cy="82296"/>
          </a:xfrm>
          <a:prstGeom prst="ellipse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1828800"/>
            <a:ext cx="38039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Role-appropriate sections displayed without page navigation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676656"/>
            <a:ext cx="4279392" cy="347472"/>
          </a:xfrm>
          <a:prstGeom prst="rect">
            <a:avLst/>
          </a:prstGeom>
          <a:solidFill>
            <a:srgbClr val="2670C3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791456" y="676656"/>
            <a:ext cx="4151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INTERFACE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024128"/>
            <a:ext cx="4279392" cy="1463040"/>
          </a:xfrm>
          <a:prstGeom prst="rect">
            <a:avLst/>
          </a:prstGeom>
          <a:solidFill>
            <a:srgbClr val="F5FAFF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846320" y="1335024"/>
            <a:ext cx="82296" cy="82296"/>
          </a:xfrm>
          <a:prstGeom prst="ellipse">
            <a:avLst/>
          </a:prstGeom>
          <a:solidFill>
            <a:srgbClr val="2670C3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010912" y="1152144"/>
            <a:ext cx="38039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platform interactions conducted through natural language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2011680"/>
            <a:ext cx="82296" cy="82296"/>
          </a:xfrm>
          <a:prstGeom prst="ellipse">
            <a:avLst/>
          </a:prstGeom>
          <a:solidFill>
            <a:srgbClr val="2670C3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010912" y="1828800"/>
            <a:ext cx="38039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guided conversation produces the complete technical specification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01168" y="2560320"/>
            <a:ext cx="4279392" cy="347472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29184" y="2560320"/>
            <a:ext cx="4151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PROPORTIONAL GOVERNANCE MODEL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01168" y="2907792"/>
            <a:ext cx="4279392" cy="1664207"/>
          </a:xfrm>
          <a:prstGeom prst="rect">
            <a:avLst/>
          </a:prstGeom>
          <a:solidFill>
            <a:srgbClr val="F5FAFF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384048" y="3218688"/>
            <a:ext cx="82296" cy="82296"/>
          </a:xfrm>
          <a:prstGeom prst="ellipse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48640" y="3035808"/>
            <a:ext cx="38039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requirements scale proportionally with the impact of the change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4048" y="3895344"/>
            <a:ext cx="82296" cy="82296"/>
          </a:xfrm>
          <a:prstGeom prst="ellipse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48640" y="3712464"/>
            <a:ext cx="38039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Deadlines and escalation paths automated for every pending action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560320"/>
            <a:ext cx="4279392" cy="347472"/>
          </a:xfrm>
          <a:prstGeom prst="rect">
            <a:avLst/>
          </a:prstGeom>
          <a:solidFill>
            <a:srgbClr val="2670C3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791456" y="2560320"/>
            <a:ext cx="4151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AI-AUGMENTED CREATION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2907792"/>
            <a:ext cx="4279392" cy="1664207"/>
          </a:xfrm>
          <a:prstGeom prst="rect">
            <a:avLst/>
          </a:prstGeom>
          <a:solidFill>
            <a:srgbClr val="F5FAFF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846320" y="3218688"/>
            <a:ext cx="82296" cy="82296"/>
          </a:xfrm>
          <a:prstGeom prst="ellipse">
            <a:avLst/>
          </a:prstGeom>
          <a:solidFill>
            <a:srgbClr val="2670C3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010912" y="3035808"/>
            <a:ext cx="38039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generates technical specifications on request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3895344"/>
            <a:ext cx="82296" cy="82296"/>
          </a:xfrm>
          <a:prstGeom prst="ellipse">
            <a:avLst/>
          </a:prstGeom>
          <a:solidFill>
            <a:srgbClr val="2670C3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010912" y="3712464"/>
            <a:ext cx="38039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Copilot output is confirmed by the creator before being applied</a:t>
            </a:r>
            <a:endParaRPr lang="en-US" sz="100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5884" y="4659782"/>
            <a:ext cx="909645" cy="465247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228600" y="4754880"/>
            <a:ext cx="46634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961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048720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01168" y="146304"/>
            <a:ext cx="8723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— Current Progress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01168" y="621792"/>
            <a:ext cx="8741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Early-stage prototype under active development — foundational capabilities in place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1168" y="950976"/>
            <a:ext cx="8741664" cy="850392"/>
          </a:xfrm>
          <a:prstGeom prst="rect">
            <a:avLst/>
          </a:prstGeom>
          <a:solidFill>
            <a:srgbClr val="F5FA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01168" y="950976"/>
            <a:ext cx="64008" cy="850392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01752" y="950976"/>
            <a:ext cx="786384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124712" y="1060704"/>
            <a:ext cx="10973" cy="56692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161288" y="106070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7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Portal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20440" y="1060704"/>
            <a:ext cx="10973" cy="56692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557016" y="1097280"/>
            <a:ext cx="73152" cy="73152"/>
          </a:xfrm>
          <a:prstGeom prst="ellipse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685032" y="1042416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portal deployed on the development instance; role-filtered sections accessible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557016" y="1426464"/>
            <a:ext cx="73152" cy="73152"/>
          </a:xfrm>
          <a:prstGeom prst="ellipse">
            <a:avLst/>
          </a:prstGeom>
          <a:solidFill>
            <a:srgbClr val="B8B8B8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685032" y="1371600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refinements and end-to-end workflow validation are ongoing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01168" y="1874519"/>
            <a:ext cx="8741664" cy="850392"/>
          </a:xfrm>
          <a:prstGeom prst="rect">
            <a:avLst/>
          </a:prstGeom>
          <a:solidFill>
            <a:srgbClr val="EBF4FB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201168" y="1874519"/>
            <a:ext cx="64008" cy="850392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01752" y="1874519"/>
            <a:ext cx="786384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124712" y="1984247"/>
            <a:ext cx="10973" cy="56692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161288" y="1984247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7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Module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520440" y="1984247"/>
            <a:ext cx="10973" cy="56692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3557016" y="2020823"/>
            <a:ext cx="73152" cy="73152"/>
          </a:xfrm>
          <a:prstGeom prst="ellipse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685032" y="1965959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Access, Users, Groups, and Pending Actions tabs accessible with initial support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557016" y="2350008"/>
            <a:ext cx="73152" cy="73152"/>
          </a:xfrm>
          <a:prstGeom prst="ellipse">
            <a:avLst/>
          </a:prstGeom>
          <a:solidFill>
            <a:srgbClr val="B8B8B8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685032" y="2295144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routing and escalation logic initialised; stress-testing in progress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01168" y="2798064"/>
            <a:ext cx="8741664" cy="850392"/>
          </a:xfrm>
          <a:prstGeom prst="rect">
            <a:avLst/>
          </a:prstGeom>
          <a:solidFill>
            <a:srgbClr val="F5FAFF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201168" y="2798064"/>
            <a:ext cx="64008" cy="850392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301752" y="2798064"/>
            <a:ext cx="786384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124712" y="2907792"/>
            <a:ext cx="10973" cy="56692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161288" y="29077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7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Module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520440" y="2907792"/>
            <a:ext cx="10973" cy="56692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3557016" y="2944368"/>
            <a:ext cx="73152" cy="73152"/>
          </a:xfrm>
          <a:prstGeom prst="ellipse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685032" y="2889504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Automations and Deliverables tabs accessible; create-and-publish flow initialised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557016" y="3273552"/>
            <a:ext cx="73152" cy="73152"/>
          </a:xfrm>
          <a:prstGeom prst="ellipse">
            <a:avLst/>
          </a:prstGeom>
          <a:solidFill>
            <a:srgbClr val="B8B8B8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3685032" y="3218688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role scoping and group-level workflows being validated iteratively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01168" y="3721608"/>
            <a:ext cx="8741664" cy="850392"/>
          </a:xfrm>
          <a:prstGeom prst="rect">
            <a:avLst/>
          </a:prstGeom>
          <a:solidFill>
            <a:srgbClr val="EBF4FB"/>
          </a:solidFill>
          <a:ln/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201168" y="3721608"/>
            <a:ext cx="64008" cy="850392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301752" y="3721608"/>
            <a:ext cx="786384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1124712" y="3831336"/>
            <a:ext cx="10973" cy="56692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1161288" y="38313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7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Assistant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520440" y="3831336"/>
            <a:ext cx="10973" cy="56692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3557016" y="3867912"/>
            <a:ext cx="73152" cy="73152"/>
          </a:xfrm>
          <a:prstGeom prst="ellipse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3685032" y="3813048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Three-layer NLU active across 50+ ServiceNow domains; advisor mode available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557016" y="4197096"/>
            <a:ext cx="73152" cy="73152"/>
          </a:xfrm>
          <a:prstGeom prst="ellipse">
            <a:avLst/>
          </a:prstGeom>
          <a:solidFill>
            <a:srgbClr val="B8B8B8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3685032" y="414223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accuracy and edge case coverage being refined continuously</a:t>
            </a:r>
            <a:endParaRPr lang="en-US" sz="950" dirty="0"/>
          </a:p>
        </p:txBody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5884" y="4659782"/>
            <a:ext cx="909645" cy="465247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228600" y="4754880"/>
            <a:ext cx="46634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961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048720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01168" y="146304"/>
            <a:ext cx="8723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Roadmap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01168" y="621792"/>
            <a:ext cx="8741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enhancement approach following initial prototype deployment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1168" y="932688"/>
            <a:ext cx="2066544" cy="457200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92608" y="932688"/>
            <a:ext cx="493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1005840"/>
            <a:ext cx="10973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77824" y="950976"/>
            <a:ext cx="1316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77824" y="1207008"/>
            <a:ext cx="566928" cy="1463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77824" y="1207008"/>
            <a:ext cx="56692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01168" y="1389888"/>
            <a:ext cx="2066544" cy="3182112"/>
          </a:xfrm>
          <a:prstGeom prst="rect">
            <a:avLst/>
          </a:prstGeom>
          <a:solidFill>
            <a:srgbClr val="F5FAFF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29184" y="1719072"/>
            <a:ext cx="73152" cy="73152"/>
          </a:xfrm>
          <a:prstGeom prst="ellipse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7200" y="1536192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Portal, governance, studio, and assistant deployed on development instance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9184" y="2414016"/>
            <a:ext cx="73152" cy="73152"/>
          </a:xfrm>
          <a:prstGeom prst="ellipse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7200" y="2231136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control and audit logging active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9184" y="3108960"/>
            <a:ext cx="73152" cy="73152"/>
          </a:xfrm>
          <a:prstGeom prst="ellipse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57200" y="2926080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Three-layer NLU and 50+ domain knowledge base in place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49424" y="1024128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377440" y="932688"/>
            <a:ext cx="2066544" cy="457200"/>
          </a:xfrm>
          <a:prstGeom prst="rect">
            <a:avLst/>
          </a:prstGeom>
          <a:solidFill>
            <a:srgbClr val="2670C3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468880" y="932688"/>
            <a:ext cx="493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2999232" y="1005840"/>
            <a:ext cx="10973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054096" y="950976"/>
            <a:ext cx="1316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377440" y="1389888"/>
            <a:ext cx="2066544" cy="3182112"/>
          </a:xfrm>
          <a:prstGeom prst="rect">
            <a:avLst/>
          </a:prstGeom>
          <a:solidFill>
            <a:srgbClr val="F5FAFF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2505456" y="1719072"/>
            <a:ext cx="73152" cy="73152"/>
          </a:xfrm>
          <a:prstGeom prst="ellipse">
            <a:avLst/>
          </a:prstGeom>
          <a:solidFill>
            <a:srgbClr val="2670C3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2633472" y="1536192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workflow validation and defect resolution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505456" y="2414016"/>
            <a:ext cx="73152" cy="73152"/>
          </a:xfrm>
          <a:prstGeom prst="ellipse">
            <a:avLst/>
          </a:prstGeom>
          <a:solidFill>
            <a:srgbClr val="2670C3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633472" y="2231136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consistency, accessibility, and performance improvements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505456" y="3108960"/>
            <a:ext cx="73152" cy="73152"/>
          </a:xfrm>
          <a:prstGeom prst="ellipse">
            <a:avLst/>
          </a:prstGeom>
          <a:solidFill>
            <a:srgbClr val="2670C3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2633472" y="2926080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approval flow and escalation stress-tested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425696" y="1024128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553712" y="932688"/>
            <a:ext cx="2066544" cy="457200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645152" y="932688"/>
            <a:ext cx="493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5175504" y="1005840"/>
            <a:ext cx="10973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230368" y="950976"/>
            <a:ext cx="1316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ENHANCEMENT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53712" y="1389888"/>
            <a:ext cx="2066544" cy="3182112"/>
          </a:xfrm>
          <a:prstGeom prst="rect">
            <a:avLst/>
          </a:prstGeom>
          <a:solidFill>
            <a:srgbClr val="F5FAFF"/>
          </a:solidFill>
          <a:ln/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4681728" y="1719072"/>
            <a:ext cx="73152" cy="73152"/>
          </a:xfrm>
          <a:prstGeom prst="ellipse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809744" y="1536192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Expanded NLU coverage and additional deliverable builder types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81728" y="2414016"/>
            <a:ext cx="73152" cy="73152"/>
          </a:xfrm>
          <a:prstGeom prst="ellipse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809744" y="2231136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tooling and use case guidance refinements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81728" y="3108960"/>
            <a:ext cx="73152" cy="73152"/>
          </a:xfrm>
          <a:prstGeom prst="ellipse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4809744" y="2926080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contextual accuracy and response quality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601968" y="1024128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729984" y="932688"/>
            <a:ext cx="2066544" cy="457200"/>
          </a:xfrm>
          <a:prstGeom prst="rect">
            <a:avLst/>
          </a:prstGeom>
          <a:solidFill>
            <a:srgbClr val="595959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821424" y="932688"/>
            <a:ext cx="493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7351776" y="1005840"/>
            <a:ext cx="10973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7406640" y="950976"/>
            <a:ext cx="1316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729984" y="1389888"/>
            <a:ext cx="2066544" cy="3182112"/>
          </a:xfrm>
          <a:prstGeom prst="rect">
            <a:avLst/>
          </a:prstGeom>
          <a:solidFill>
            <a:srgbClr val="F5FAFF"/>
          </a:solidFill>
          <a:ln/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6858000" y="1719072"/>
            <a:ext cx="73152" cy="73152"/>
          </a:xfrm>
          <a:prstGeom prst="ellipse">
            <a:avLst/>
          </a:prstGeom>
          <a:solidFill>
            <a:srgbClr val="595959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6986016" y="1536192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Multi-group automation sharing and cross-team governance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858000" y="2414016"/>
            <a:ext cx="73152" cy="73152"/>
          </a:xfrm>
          <a:prstGeom prst="ellipse">
            <a:avLst/>
          </a:prstGeom>
          <a:solidFill>
            <a:srgbClr val="595959"/>
          </a:solidFill>
          <a:ln/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6986016" y="2231136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dashboard for operations and governance insights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858000" y="3108960"/>
            <a:ext cx="73152" cy="73152"/>
          </a:xfrm>
          <a:prstGeom prst="ellipse">
            <a:avLst/>
          </a:prstGeom>
          <a:solidFill>
            <a:srgbClr val="595959"/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6986016" y="2926080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Broader onboarding programmes and adoption tracking</a:t>
            </a:r>
            <a:endParaRPr lang="en-US" sz="850" dirty="0"/>
          </a:p>
        </p:txBody>
      </p:sp>
      <p:pic>
        <p:nvPicPr>
          <p:cNvPr id="5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5884" y="4659782"/>
            <a:ext cx="909645" cy="465247"/>
          </a:xfrm>
          <a:prstGeom prst="rect">
            <a:avLst/>
          </a:prstGeom>
        </p:spPr>
      </p:pic>
      <p:sp>
        <p:nvSpPr>
          <p:cNvPr id="56" name="Text 53"/>
          <p:cNvSpPr/>
          <p:nvPr/>
        </p:nvSpPr>
        <p:spPr>
          <a:xfrm>
            <a:off x="228600" y="4754880"/>
            <a:ext cx="46634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146304"/>
            <a:ext cx="8723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Repository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-8961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048720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01168" y="640080"/>
            <a:ext cx="8741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source of truth — all platform documentation, source code, and Copilot AI instructions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1168" y="950976"/>
            <a:ext cx="8741664" cy="347472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29184" y="950976"/>
            <a:ext cx="8613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github.com/Infosys-GithubCopilot-backup/Operations-Intelligence-Source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" y="1353312"/>
            <a:ext cx="6144768" cy="3145536"/>
          </a:xfrm>
          <a:prstGeom prst="rect">
            <a:avLst/>
          </a:prstGeom>
          <a:solidFill>
            <a:srgbClr val="F5FAFF"/>
          </a:solidFill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01168" y="1353312"/>
            <a:ext cx="6144768" cy="347472"/>
          </a:xfrm>
          <a:prstGeom prst="rect">
            <a:avLst/>
          </a:prstGeom>
          <a:solidFill>
            <a:srgbClr val="EBF4F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" y="1353312"/>
            <a:ext cx="5998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CONTENTS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127248" y="1353312"/>
            <a:ext cx="3127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Operations-Intelligence-Source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" y="1892808"/>
            <a:ext cx="91440" cy="91440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30352" y="1773936"/>
            <a:ext cx="1316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7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.github /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737360" y="1911096"/>
            <a:ext cx="54864" cy="54864"/>
          </a:xfrm>
          <a:prstGeom prst="ellipse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883664" y="1773936"/>
            <a:ext cx="4315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instructions — auto-loaded on repository open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" y="2276856"/>
            <a:ext cx="91440" cy="91440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30352" y="2157984"/>
            <a:ext cx="1316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7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/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737360" y="2295144"/>
            <a:ext cx="54864" cy="54864"/>
          </a:xfrm>
          <a:prstGeom prst="ellipse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883664" y="2157984"/>
            <a:ext cx="4315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architecture, data model, and role definitions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4048" y="2660904"/>
            <a:ext cx="91440" cy="91440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30352" y="2542032"/>
            <a:ext cx="1316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7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/  ·  01–05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737360" y="2679192"/>
            <a:ext cx="54864" cy="54864"/>
          </a:xfrm>
          <a:prstGeom prst="ellipse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883664" y="2542032"/>
            <a:ext cx="4315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context, problem statement, and value canon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84048" y="3044952"/>
            <a:ext cx="91440" cy="91440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30352" y="2926080"/>
            <a:ext cx="1316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7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/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737360" y="3063240"/>
            <a:ext cx="54864" cy="54864"/>
          </a:xfrm>
          <a:prstGeom prst="ellipse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883664" y="2926080"/>
            <a:ext cx="4315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source (117 operations), portal widget, background scripts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3504" y="3429000"/>
            <a:ext cx="91440" cy="91440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49808" y="3310128"/>
            <a:ext cx="1316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/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956816" y="3447288"/>
            <a:ext cx="54864" cy="54864"/>
          </a:xfrm>
          <a:prstGeom prst="ellipse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103120" y="3310128"/>
            <a:ext cx="4096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Engine, portal widget JS/CSS, deployment scripts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3504" y="3813048"/>
            <a:ext cx="91440" cy="91440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49808" y="3694176"/>
            <a:ext cx="1316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/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956816" y="3831336"/>
            <a:ext cx="54864" cy="54864"/>
          </a:xfrm>
          <a:prstGeom prst="ellipse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2103120" y="3694176"/>
            <a:ext cx="4096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reference, coding patterns, schema definitions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84048" y="4197096"/>
            <a:ext cx="91440" cy="91440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30352" y="4078224"/>
            <a:ext cx="1316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7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/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737360" y="4215384"/>
            <a:ext cx="54864" cy="54864"/>
          </a:xfrm>
          <a:prstGeom prst="ellipse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883664" y="4078224"/>
            <a:ext cx="4315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 glossary for all identifiers and terms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47472" y="420624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developer opening this repository with GitHub Copilot receives full platform context with no additional setup required.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510528" y="1353312"/>
            <a:ext cx="2432304" cy="1517904"/>
          </a:xfrm>
          <a:prstGeom prst="rect">
            <a:avLst/>
          </a:prstGeom>
          <a:solidFill>
            <a:srgbClr val="EBF4FB"/>
          </a:solidFill>
          <a:ln/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6510528" y="1353312"/>
            <a:ext cx="2432304" cy="29260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638544" y="1353312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COPILOT KNOWS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675120" y="1810512"/>
            <a:ext cx="64008" cy="64008"/>
          </a:xfrm>
          <a:prstGeom prst="ellipse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803136" y="1755648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 documented engine operations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675120" y="2048256"/>
            <a:ext cx="64008" cy="64008"/>
          </a:xfrm>
          <a:prstGeom prst="ellipse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6803136" y="1993392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ServiceNow domain topics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675120" y="2286000"/>
            <a:ext cx="64008" cy="64008"/>
          </a:xfrm>
          <a:prstGeom prst="ellipse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803136" y="2231136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architecture and data model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675120" y="2523744"/>
            <a:ext cx="64008" cy="64008"/>
          </a:xfrm>
          <a:prstGeom prst="ellipse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6803136" y="2468880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 glossary and identifiers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510528" y="2944368"/>
            <a:ext cx="2432304" cy="1554479"/>
          </a:xfrm>
          <a:prstGeom prst="rect">
            <a:avLst/>
          </a:prstGeom>
          <a:solidFill>
            <a:srgbClr val="F5FAFF"/>
          </a:solidFill>
          <a:ln/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6510528" y="2944368"/>
            <a:ext cx="2432304" cy="292608"/>
          </a:xfrm>
          <a:prstGeom prst="rect">
            <a:avLst/>
          </a:prstGeom>
          <a:solidFill>
            <a:srgbClr val="2670C3"/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6638544" y="2944368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675120" y="3401568"/>
            <a:ext cx="64008" cy="64008"/>
          </a:xfrm>
          <a:prstGeom prst="rect">
            <a:avLst/>
          </a:prstGeom>
          <a:solidFill>
            <a:srgbClr val="2670C3"/>
          </a:solidFill>
          <a:ln/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6803136" y="3346704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repository in VS Code or GitHub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675120" y="3639312"/>
            <a:ext cx="64008" cy="64008"/>
          </a:xfrm>
          <a:prstGeom prst="rect">
            <a:avLst/>
          </a:prstGeom>
          <a:solidFill>
            <a:srgbClr val="2670C3"/>
          </a:solidFill>
          <a:ln/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6803136" y="3584448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GitHub Copilot is active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675120" y="3877056"/>
            <a:ext cx="64008" cy="64008"/>
          </a:xfrm>
          <a:prstGeom prst="rect">
            <a:avLst/>
          </a:prstGeom>
          <a:solidFill>
            <a:srgbClr val="2670C3"/>
          </a:solidFill>
          <a:ln/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6803136" y="3822192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any question in plain English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675120" y="4114800"/>
            <a:ext cx="64008" cy="64008"/>
          </a:xfrm>
          <a:prstGeom prst="rect">
            <a:avLst/>
          </a:prstGeom>
          <a:solidFill>
            <a:srgbClr val="2670C3"/>
          </a:solidFill>
          <a:ln/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6803136" y="4059936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answers from the source</a:t>
            </a:r>
            <a:endParaRPr lang="en-US" sz="900" dirty="0"/>
          </a:p>
        </p:txBody>
      </p:sp>
      <p:pic>
        <p:nvPicPr>
          <p:cNvPr id="6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5884" y="4659782"/>
            <a:ext cx="909645" cy="465247"/>
          </a:xfrm>
          <a:prstGeom prst="rect">
            <a:avLst/>
          </a:prstGeom>
        </p:spPr>
      </p:pic>
      <p:sp>
        <p:nvSpPr>
          <p:cNvPr id="64" name="Text 61"/>
          <p:cNvSpPr/>
          <p:nvPr/>
        </p:nvSpPr>
        <p:spPr>
          <a:xfrm>
            <a:off x="228600" y="4754880"/>
            <a:ext cx="46634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" y="1289304"/>
            <a:ext cx="317296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-8961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23860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56681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9502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122322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655052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187873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720694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253514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786335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319065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851886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384707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917527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450348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983078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515899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048720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93192" y="4608576"/>
            <a:ext cx="6025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Infosys Limited. All rights reserved. Operations Intelligence is a proprietary initiative of Infosys Limited.</a:t>
            </a:r>
            <a:endParaRPr lang="en-US" sz="7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5884" y="4659782"/>
            <a:ext cx="909645" cy="4652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2026-06-22T09:53:23Z</dcterms:created>
  <dcterms:modified xsi:type="dcterms:W3CDTF">2026-06-22T09:53:23Z</dcterms:modified>
</cp:coreProperties>
</file>