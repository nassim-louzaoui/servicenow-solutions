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"/>
            <a:ext cx="4937760" cy="5577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961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1"/>
          <p:cNvSpPr/>
          <p:nvPr/>
        </p:nvSpPr>
        <p:spPr>
          <a:xfrm>
            <a:off x="51169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2"/>
          <p:cNvSpPr/>
          <p:nvPr/>
        </p:nvSpPr>
        <p:spPr>
          <a:xfrm>
            <a:off x="103226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Shape 3"/>
          <p:cNvSpPr/>
          <p:nvPr/>
        </p:nvSpPr>
        <p:spPr>
          <a:xfrm>
            <a:off x="155283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Shape 4"/>
          <p:cNvSpPr/>
          <p:nvPr/>
        </p:nvSpPr>
        <p:spPr>
          <a:xfrm>
            <a:off x="207340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8" name="Shape 5"/>
          <p:cNvSpPr/>
          <p:nvPr/>
        </p:nvSpPr>
        <p:spPr>
          <a:xfrm>
            <a:off x="259397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9" name="Shape 6"/>
          <p:cNvSpPr/>
          <p:nvPr/>
        </p:nvSpPr>
        <p:spPr>
          <a:xfrm>
            <a:off x="311453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0" name="Shape 7"/>
          <p:cNvSpPr/>
          <p:nvPr/>
        </p:nvSpPr>
        <p:spPr>
          <a:xfrm>
            <a:off x="363510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Shape 8"/>
          <p:cNvSpPr/>
          <p:nvPr/>
        </p:nvSpPr>
        <p:spPr>
          <a:xfrm>
            <a:off x="5404653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2" name="Shape 9"/>
          <p:cNvSpPr/>
          <p:nvPr/>
        </p:nvSpPr>
        <p:spPr>
          <a:xfrm>
            <a:off x="592531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588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4" name="Shape 11"/>
          <p:cNvSpPr/>
          <p:nvPr/>
        </p:nvSpPr>
        <p:spPr>
          <a:xfrm>
            <a:off x="696644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5" name="Shape 12"/>
          <p:cNvSpPr/>
          <p:nvPr/>
        </p:nvSpPr>
        <p:spPr>
          <a:xfrm>
            <a:off x="748701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6" name="Shape 13"/>
          <p:cNvSpPr/>
          <p:nvPr/>
        </p:nvSpPr>
        <p:spPr>
          <a:xfrm>
            <a:off x="800758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7" name="Shape 14"/>
          <p:cNvSpPr/>
          <p:nvPr/>
        </p:nvSpPr>
        <p:spPr>
          <a:xfrm>
            <a:off x="852815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8" name="Shape 15"/>
          <p:cNvSpPr/>
          <p:nvPr/>
        </p:nvSpPr>
        <p:spPr>
          <a:xfrm>
            <a:off x="904872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199" y="856701"/>
            <a:ext cx="832470" cy="345990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1945" y="3259104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81945" y="43891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ServiceNow Intelligent Automation Initiative — Infosys Operations</a:t>
            </a:r>
            <a:endParaRPr lang="en-US" sz="950"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" y="2121408"/>
            <a:ext cx="100584" cy="8686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2121408"/>
            <a:ext cx="100584" cy="8686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Prototype — Portal Showcase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658368"/>
            <a:ext cx="8741664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804672"/>
            <a:ext cx="54864" cy="1828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70C3"/>
                </a:solidFill>
                <a:latin typeface="Arial"/>
              </a:rPr>
              <a:t>What you are about to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024128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Arial"/>
              </a:rPr>
              <a:t>The following slides present the Operations Intelligence portal prototype running on the development ServiceNow instance. Each slide captures one of the eight navigation modules, demonstrating the unified role-based interface as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499616"/>
            <a:ext cx="54864" cy="1828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499616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70C3"/>
                </a:solidFill>
                <a:latin typeface="Arial"/>
              </a:rPr>
              <a:t>Portal access and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719072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Arial"/>
              </a:rPr>
              <a:t>All authenticated ServiceNow users reach the portal at a single URL. Navigation adapts to role: Operations Team members see the service catalog; Creators access Creator Studio; Governance, Leadership, Developer, and Administrator roles each see their designated module.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194560"/>
            <a:ext cx="54864" cy="1828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2194560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70C3"/>
                </a:solidFill>
                <a:latin typeface="Arial"/>
              </a:rPr>
              <a:t>Eight modules 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2414016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Arial"/>
              </a:rPr>
              <a:t>Operations Workspace  ·  Automations Workspace  ·  Agentic Workspace  ·  Creator Studio  ·  Governance Control  ·  Leadership Insights  ·  Developer Hub  ·  Administrator 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2889504"/>
            <a:ext cx="54864" cy="18288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2889504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70C3"/>
                </a:solidFill>
                <a:latin typeface="Arial"/>
              </a:rPr>
              <a:t>Development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3108960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Arial"/>
              </a:rPr>
              <a:t>Early-stage prototype under active development. Core portal, governance, creator studio, and the operations assistant are deployed. UI refinements and end-to-end workflow validation are in progress.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663440"/>
            <a:ext cx="905256" cy="466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B8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Operations Workspace — the unified service catalog where operations team members browse and submit service requests across Knowledge Management, ITSM, ITAM, HR Services, and Finance categories, with an intelligent assistant providing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om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Automations Workspace — a searchable, filterable catalog of all platform automations across service categories, giving every authorised user complete visibility of available automated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ic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Agentic Workspace — a launch pad for embedded platform workspaces (CMDB and Service Operations) paired with an intelligent agentic assistant capable of cross-platform reasoning and real-time incident correlation.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ator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Creator Studio — a structured three-pane environment where designated creators design automation initiatives through AI-guided conversations, producing technical specifications and NLU training phrases ready for governance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vernance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Governance Control — the approval and access management hub where governance administrators review pending initiatives, manage user access to platform roles, and control group membership.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adership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Leadership Insights — an executive dashboard presenting real-time KPIs, the full initiative pipeline, and a review interface for leadership to approve or provide feedback on pending automation proposals.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er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Developer Hub — a technical artifact browser providing developers with full visibility of all tables, Script Includes, Business Rules, Scheduled Jobs, and system properties within the scoped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72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736592"/>
            <a:ext cx="77724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Administrator Hub — the administration console for managing the service catalog structure, configuring system maintenance controls, and monitoring overall platform health and notification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E4F5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90872"/>
            <a:ext cx="8229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51560" y="1289304"/>
            <a:ext cx="3172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52386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105668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Shape 4"/>
          <p:cNvSpPr/>
          <p:nvPr/>
        </p:nvSpPr>
        <p:spPr>
          <a:xfrm>
            <a:off x="158950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Shape 5"/>
          <p:cNvSpPr/>
          <p:nvPr/>
        </p:nvSpPr>
        <p:spPr>
          <a:xfrm>
            <a:off x="212232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8" name="Shape 6"/>
          <p:cNvSpPr/>
          <p:nvPr/>
        </p:nvSpPr>
        <p:spPr>
          <a:xfrm>
            <a:off x="265505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9" name="Shape 7"/>
          <p:cNvSpPr/>
          <p:nvPr/>
        </p:nvSpPr>
        <p:spPr>
          <a:xfrm>
            <a:off x="3187873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0" name="Shape 8"/>
          <p:cNvSpPr/>
          <p:nvPr/>
        </p:nvSpPr>
        <p:spPr>
          <a:xfrm>
            <a:off x="372069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Shape 9"/>
          <p:cNvSpPr/>
          <p:nvPr/>
        </p:nvSpPr>
        <p:spPr>
          <a:xfrm>
            <a:off x="425351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633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906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1886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470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6" name="Shape 14"/>
          <p:cNvSpPr/>
          <p:nvPr/>
        </p:nvSpPr>
        <p:spPr>
          <a:xfrm>
            <a:off x="691752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034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8307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9" name="Shape 17"/>
          <p:cNvSpPr/>
          <p:nvPr/>
        </p:nvSpPr>
        <p:spPr>
          <a:xfrm>
            <a:off x="8515899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4608576"/>
            <a:ext cx="6025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Infosys Limited. All rights reserved. Operations Intelligence is a proprietary initiative of Infosys Limited.</a:t>
            </a:r>
            <a:endParaRPr lang="en-US" sz="700"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