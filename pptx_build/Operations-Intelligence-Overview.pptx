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128016"/>
            <a:ext cx="4937760" cy="55778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-8961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4" name="Shape 1"/>
          <p:cNvSpPr/>
          <p:nvPr/>
        </p:nvSpPr>
        <p:spPr>
          <a:xfrm>
            <a:off x="511698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5" name="Shape 2"/>
          <p:cNvSpPr/>
          <p:nvPr/>
        </p:nvSpPr>
        <p:spPr>
          <a:xfrm>
            <a:off x="1032266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6" name="Shape 3"/>
          <p:cNvSpPr/>
          <p:nvPr/>
        </p:nvSpPr>
        <p:spPr>
          <a:xfrm>
            <a:off x="1552834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7" name="Shape 4"/>
          <p:cNvSpPr/>
          <p:nvPr/>
        </p:nvSpPr>
        <p:spPr>
          <a:xfrm>
            <a:off x="2073402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8" name="Shape 5"/>
          <p:cNvSpPr/>
          <p:nvPr/>
        </p:nvSpPr>
        <p:spPr>
          <a:xfrm>
            <a:off x="2593970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9" name="Shape 6"/>
          <p:cNvSpPr/>
          <p:nvPr/>
        </p:nvSpPr>
        <p:spPr>
          <a:xfrm>
            <a:off x="3114538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0" name="Shape 7"/>
          <p:cNvSpPr/>
          <p:nvPr/>
        </p:nvSpPr>
        <p:spPr>
          <a:xfrm>
            <a:off x="3635106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1" name="Shape 8"/>
          <p:cNvSpPr/>
          <p:nvPr/>
        </p:nvSpPr>
        <p:spPr>
          <a:xfrm>
            <a:off x="5404653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2" name="Shape 9"/>
          <p:cNvSpPr/>
          <p:nvPr/>
        </p:nvSpPr>
        <p:spPr>
          <a:xfrm>
            <a:off x="5925312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3" name="Shape 10"/>
          <p:cNvSpPr/>
          <p:nvPr/>
        </p:nvSpPr>
        <p:spPr>
          <a:xfrm>
            <a:off x="6445880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4" name="Shape 11"/>
          <p:cNvSpPr/>
          <p:nvPr/>
        </p:nvSpPr>
        <p:spPr>
          <a:xfrm>
            <a:off x="6966448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5" name="Shape 12"/>
          <p:cNvSpPr/>
          <p:nvPr/>
        </p:nvSpPr>
        <p:spPr>
          <a:xfrm>
            <a:off x="7487016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6" name="Shape 13"/>
          <p:cNvSpPr/>
          <p:nvPr/>
        </p:nvSpPr>
        <p:spPr>
          <a:xfrm>
            <a:off x="8007584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7" name="Shape 14"/>
          <p:cNvSpPr/>
          <p:nvPr/>
        </p:nvSpPr>
        <p:spPr>
          <a:xfrm>
            <a:off x="8528152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8" name="Shape 15"/>
          <p:cNvSpPr/>
          <p:nvPr/>
        </p:nvSpPr>
        <p:spPr>
          <a:xfrm>
            <a:off x="9048720" y="2154144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199" y="856701"/>
            <a:ext cx="832470" cy="3459907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81945" y="3259104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Intelligence</a:t>
            </a:r>
            <a:endParaRPr lang="en-US" sz="2200" dirty="0"/>
          </a:p>
        </p:txBody>
      </p:sp>
      <p:sp>
        <p:nvSpPr>
          <p:cNvPr id="21" name="Text 17"/>
          <p:cNvSpPr/>
          <p:nvPr/>
        </p:nvSpPr>
        <p:spPr>
          <a:xfrm>
            <a:off x="381945" y="43891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ServiceNow Intelligent Automation Initiative — Infosys Operations</a:t>
            </a:r>
            <a:endParaRPr lang="en-US" sz="9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5884" y="4659782"/>
            <a:ext cx="909645" cy="46524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8961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3" name="Shape 1"/>
          <p:cNvSpPr/>
          <p:nvPr/>
        </p:nvSpPr>
        <p:spPr>
          <a:xfrm>
            <a:off x="9048720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4" name="Text 2"/>
          <p:cNvSpPr/>
          <p:nvPr/>
        </p:nvSpPr>
        <p:spPr>
          <a:xfrm>
            <a:off x="201168" y="146304"/>
            <a:ext cx="87233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Agenda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1168" y="640080"/>
            <a:ext cx="8723376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6" name="Text 4"/>
          <p:cNvSpPr/>
          <p:nvPr/>
        </p:nvSpPr>
        <p:spPr>
          <a:xfrm>
            <a:off x="201168" y="768096"/>
            <a:ext cx="713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50976" y="932688"/>
            <a:ext cx="35295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Context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" y="1609344"/>
            <a:ext cx="4279392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/>
          <p:nvPr/>
        </p:nvSpPr>
        <p:spPr>
          <a:xfrm>
            <a:off x="201168" y="1755648"/>
            <a:ext cx="713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950976" y="1920240"/>
            <a:ext cx="35295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" y="2596896"/>
            <a:ext cx="4279392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/>
          <p:nvPr/>
        </p:nvSpPr>
        <p:spPr>
          <a:xfrm>
            <a:off x="201168" y="2743200"/>
            <a:ext cx="713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50976" y="2907792"/>
            <a:ext cx="35295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Value of Automation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1168" y="3584448"/>
            <a:ext cx="4279392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/>
          <p:nvPr/>
        </p:nvSpPr>
        <p:spPr>
          <a:xfrm>
            <a:off x="201168" y="3730752"/>
            <a:ext cx="713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50976" y="3895344"/>
            <a:ext cx="35295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Desired State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01168" y="4572000"/>
            <a:ext cx="4279392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768096"/>
            <a:ext cx="713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413248" y="932688"/>
            <a:ext cx="35295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1609344"/>
            <a:ext cx="4279392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9"/>
          <p:cNvSpPr/>
          <p:nvPr/>
        </p:nvSpPr>
        <p:spPr>
          <a:xfrm>
            <a:off x="4663440" y="1755648"/>
            <a:ext cx="713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5413248" y="1920240"/>
            <a:ext cx="35295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— Current Progress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2596896"/>
            <a:ext cx="4279392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2743200"/>
            <a:ext cx="713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413248" y="2907792"/>
            <a:ext cx="35295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Roadmap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3584448"/>
            <a:ext cx="4279392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7" name="Text 25"/>
          <p:cNvSpPr/>
          <p:nvPr/>
        </p:nvSpPr>
        <p:spPr>
          <a:xfrm>
            <a:off x="4663440" y="3730752"/>
            <a:ext cx="713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5413248" y="3895344"/>
            <a:ext cx="35295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Repository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63440" y="4572000"/>
            <a:ext cx="4279392" cy="10973"/>
          </a:xfrm>
          <a:prstGeom prst="rect">
            <a:avLst/>
          </a:prstGeom>
          <a:solidFill>
            <a:srgbClr val="D9D9D9"/>
          </a:solidFill>
          <a:ln/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4" y="4659782"/>
            <a:ext cx="909645" cy="465247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228600" y="4754880"/>
            <a:ext cx="466344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8961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3" name="Shape 1"/>
          <p:cNvSpPr/>
          <p:nvPr/>
        </p:nvSpPr>
        <p:spPr>
          <a:xfrm>
            <a:off x="9048720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4" name="Text 2"/>
          <p:cNvSpPr/>
          <p:nvPr/>
        </p:nvSpPr>
        <p:spPr>
          <a:xfrm>
            <a:off x="201168" y="146304"/>
            <a:ext cx="87233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Context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1168" y="694944"/>
            <a:ext cx="4023360" cy="310896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6" name="Text 4"/>
          <p:cNvSpPr/>
          <p:nvPr/>
        </p:nvSpPr>
        <p:spPr>
          <a:xfrm>
            <a:off x="329184" y="694944"/>
            <a:ext cx="3895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01168" y="1005840"/>
            <a:ext cx="4023360" cy="3236976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8" name="Shape 6"/>
          <p:cNvSpPr/>
          <p:nvPr/>
        </p:nvSpPr>
        <p:spPr>
          <a:xfrm>
            <a:off x="4919472" y="694944"/>
            <a:ext cx="4023360" cy="310896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9" name="Text 7"/>
          <p:cNvSpPr/>
          <p:nvPr/>
        </p:nvSpPr>
        <p:spPr>
          <a:xfrm>
            <a:off x="5047488" y="694944"/>
            <a:ext cx="3895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OPERATIONS INTELLIGENCE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919472" y="1005840"/>
            <a:ext cx="4023360" cy="3236976"/>
          </a:xfrm>
          <a:prstGeom prst="rect">
            <a:avLst/>
          </a:prstGeom>
          <a:solidFill>
            <a:srgbClr val="EBF4FB"/>
          </a:solidFill>
          <a:ln/>
        </p:spPr>
      </p:sp>
      <p:sp>
        <p:nvSpPr>
          <p:cNvPr id="11" name="Text 9"/>
          <p:cNvSpPr/>
          <p:nvPr/>
        </p:nvSpPr>
        <p:spPr>
          <a:xfrm>
            <a:off x="4242816" y="2404872"/>
            <a:ext cx="6583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65760" y="1280160"/>
            <a:ext cx="91440" cy="91440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" y="1170432"/>
            <a:ext cx="36027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tasks rebuilt manually every cycle — no automation path exists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2029968"/>
            <a:ext cx="91440" cy="91440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1920240"/>
            <a:ext cx="36027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Agent and platform automation capabilities entirely unused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779776"/>
            <a:ext cx="91440" cy="91440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17" name="Text 15"/>
          <p:cNvSpPr/>
          <p:nvPr/>
        </p:nvSpPr>
        <p:spPr>
          <a:xfrm>
            <a:off x="530352" y="2670048"/>
            <a:ext cx="36027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reconciliation between ServiceNow and external sources is manual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529584"/>
            <a:ext cx="91440" cy="91440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3419856"/>
            <a:ext cx="36027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expertise held by a small number of individuals across all teams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84064" y="1280160"/>
            <a:ext cx="91440" cy="91440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48656" y="1170432"/>
            <a:ext cx="36027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recurring task automated once executes permanently on schedule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84064" y="2029968"/>
            <a:ext cx="91440" cy="91440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23" name="Text 21"/>
          <p:cNvSpPr/>
          <p:nvPr/>
        </p:nvSpPr>
        <p:spPr>
          <a:xfrm>
            <a:off x="5248656" y="1920240"/>
            <a:ext cx="36027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dedicated Virtual Agent provides natural-language access to all capabilities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84064" y="2779776"/>
            <a:ext cx="91440" cy="91440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25" name="Text 23"/>
          <p:cNvSpPr/>
          <p:nvPr/>
        </p:nvSpPr>
        <p:spPr>
          <a:xfrm>
            <a:off x="5248656" y="2670048"/>
            <a:ext cx="36027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automated layer maps and merges data sources without manual intervention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84064" y="3529584"/>
            <a:ext cx="91440" cy="91440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27" name="Text 25"/>
          <p:cNvSpPr/>
          <p:nvPr/>
        </p:nvSpPr>
        <p:spPr>
          <a:xfrm>
            <a:off x="5248656" y="3419856"/>
            <a:ext cx="36027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 capability is embedded in the system and accessible to all teams</a:t>
            </a:r>
            <a:endParaRPr lang="en-US" sz="9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4" y="4659782"/>
            <a:ext cx="909645" cy="465247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228600" y="4754880"/>
            <a:ext cx="466344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146304"/>
            <a:ext cx="87233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-8961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4" name="Shape 2"/>
          <p:cNvSpPr/>
          <p:nvPr/>
        </p:nvSpPr>
        <p:spPr>
          <a:xfrm>
            <a:off x="9048720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5" name="Shape 3"/>
          <p:cNvSpPr/>
          <p:nvPr/>
        </p:nvSpPr>
        <p:spPr>
          <a:xfrm>
            <a:off x="201168" y="713232"/>
            <a:ext cx="8741664" cy="786384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6" name="Shape 4"/>
          <p:cNvSpPr/>
          <p:nvPr/>
        </p:nvSpPr>
        <p:spPr>
          <a:xfrm>
            <a:off x="201168" y="914400"/>
            <a:ext cx="658368" cy="2926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7" name="Text 5"/>
          <p:cNvSpPr/>
          <p:nvPr/>
        </p:nvSpPr>
        <p:spPr>
          <a:xfrm>
            <a:off x="201168" y="9144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05840" y="74980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Automated Consolidation Layer Between Data Sources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05840" y="9875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teams export ServiceNow and Flexera data independently. No common field headers exist, requiring manual data cleansing and reconciliation each cycle.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882896" y="932688"/>
            <a:ext cx="310896" cy="29260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1" name="Text 9"/>
          <p:cNvSpPr/>
          <p:nvPr/>
        </p:nvSpPr>
        <p:spPr>
          <a:xfrm>
            <a:off x="4882896" y="89611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21808" y="74980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21808" y="969264"/>
            <a:ext cx="3547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automated layer maps field headers across both sources and merges outputs automatically, eliminating manual reconciliation and ensuring consistent reporting.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01168" y="1627632"/>
            <a:ext cx="8741664" cy="786384"/>
          </a:xfrm>
          <a:prstGeom prst="rect">
            <a:avLst/>
          </a:prstGeom>
          <a:solidFill>
            <a:srgbClr val="EB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201168" y="1828800"/>
            <a:ext cx="658368" cy="2926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6" name="Text 14"/>
          <p:cNvSpPr/>
          <p:nvPr/>
        </p:nvSpPr>
        <p:spPr>
          <a:xfrm>
            <a:off x="201168" y="18288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05840" y="166420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Agent Capability Active but Not Implemented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05840" y="19019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Virtual Agent SKU is enabled on all instances but no implementation exists, leaving operations teams without a conversational interface to automation capabilities.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882896" y="1847088"/>
            <a:ext cx="310896" cy="29260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20" name="Text 18"/>
          <p:cNvSpPr/>
          <p:nvPr/>
        </p:nvSpPr>
        <p:spPr>
          <a:xfrm>
            <a:off x="4882896" y="181051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321808" y="166420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21808" y="1883664"/>
            <a:ext cx="3547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Intelligence deploys the Virtual Agent as the primary interface, enabling every team member to create and manage automations through natural language.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01168" y="2542032"/>
            <a:ext cx="8741664" cy="786384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01168" y="2743200"/>
            <a:ext cx="658368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5" name="Text 23"/>
          <p:cNvSpPr/>
          <p:nvPr/>
        </p:nvSpPr>
        <p:spPr>
          <a:xfrm>
            <a:off x="201168" y="2743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05840" y="257860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Manual Tasks Displacing Project Delivery Capacity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005840" y="28163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Reports, dashboards, and data extracts are rebuilt manually every cycle. The cumulative overhead displaces capacity that would otherwise reach project deliverables.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82896" y="2761488"/>
            <a:ext cx="310896" cy="29260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29" name="Text 27"/>
          <p:cNvSpPr/>
          <p:nvPr/>
        </p:nvSpPr>
        <p:spPr>
          <a:xfrm>
            <a:off x="4882896" y="272491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321808" y="257860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321808" y="2798064"/>
            <a:ext cx="3547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recurring task requested once is automated on a permanent basis. A single request eliminates the associated manual effort across all subsequent cycles.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01168" y="3456432"/>
            <a:ext cx="8741664" cy="786384"/>
          </a:xfrm>
          <a:prstGeom prst="rect">
            <a:avLst/>
          </a:prstGeom>
          <a:solidFill>
            <a:srgbClr val="EBF4FB"/>
          </a:solidFill>
          <a:ln/>
        </p:spPr>
      </p:sp>
      <p:sp>
        <p:nvSpPr>
          <p:cNvPr id="33" name="Shape 31"/>
          <p:cNvSpPr/>
          <p:nvPr/>
        </p:nvSpPr>
        <p:spPr>
          <a:xfrm>
            <a:off x="201168" y="3657600"/>
            <a:ext cx="658368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4" name="Text 32"/>
          <p:cNvSpPr/>
          <p:nvPr/>
        </p:nvSpPr>
        <p:spPr>
          <a:xfrm>
            <a:off x="201168" y="36576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05840" y="349300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Blockers Lack a Structured Resolution Path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005840" y="37307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can identify blockers in business terms but not translate them into technical specifications. Issues remain unresolved before reaching an approver.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82896" y="3675888"/>
            <a:ext cx="310896" cy="29260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38" name="Text 36"/>
          <p:cNvSpPr/>
          <p:nvPr/>
        </p:nvSpPr>
        <p:spPr>
          <a:xfrm>
            <a:off x="4882896" y="363931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321808" y="349300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21808" y="3712464"/>
            <a:ext cx="3547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Operations Assistant converts a plain-English description into a specification and routes it automatically to the appropriate approver for action.</a:t>
            </a:r>
            <a:endParaRPr lang="en-US" sz="90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4" y="4659782"/>
            <a:ext cx="909645" cy="465247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228600" y="4754880"/>
            <a:ext cx="466344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146304"/>
            <a:ext cx="87233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Value of Automation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-8961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4" name="Shape 2"/>
          <p:cNvSpPr/>
          <p:nvPr/>
        </p:nvSpPr>
        <p:spPr>
          <a:xfrm>
            <a:off x="9048720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5" name="Shape 3"/>
          <p:cNvSpPr/>
          <p:nvPr/>
        </p:nvSpPr>
        <p:spPr>
          <a:xfrm>
            <a:off x="201168" y="694944"/>
            <a:ext cx="8741664" cy="731520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6" name="Shape 4"/>
          <p:cNvSpPr/>
          <p:nvPr/>
        </p:nvSpPr>
        <p:spPr>
          <a:xfrm>
            <a:off x="201168" y="786384"/>
            <a:ext cx="54864" cy="548640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758952"/>
            <a:ext cx="8449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manual tasks become permanent, single-request automations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84048" y="1024128"/>
            <a:ext cx="84490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report, dashboard, or extract rebuilt manually each cycle is requested once and automated on a permanent basis. The cost of the work moves from recurring to one-time.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1168" y="1481328"/>
            <a:ext cx="8741664" cy="731520"/>
          </a:xfrm>
          <a:prstGeom prst="rect">
            <a:avLst/>
          </a:prstGeom>
          <a:solidFill>
            <a:srgbClr val="EBF4FB"/>
          </a:solidFill>
          <a:ln/>
        </p:spPr>
      </p:sp>
      <p:sp>
        <p:nvSpPr>
          <p:cNvPr id="10" name="Shape 8"/>
          <p:cNvSpPr/>
          <p:nvPr/>
        </p:nvSpPr>
        <p:spPr>
          <a:xfrm>
            <a:off x="201168" y="1572768"/>
            <a:ext cx="54864" cy="548640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" y="1545336"/>
            <a:ext cx="8449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blockers are resolved without technical mediation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" y="1810512"/>
            <a:ext cx="84490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requirement stated in plain English is converted into a specification and routed to the appropriate approver. The articulation barrier that strands issues today is removed.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01168" y="2267712"/>
            <a:ext cx="8741664" cy="731520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14" name="Shape 12"/>
          <p:cNvSpPr/>
          <p:nvPr/>
        </p:nvSpPr>
        <p:spPr>
          <a:xfrm>
            <a:off x="201168" y="2359152"/>
            <a:ext cx="54864" cy="548640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5" name="Text 13"/>
          <p:cNvSpPr/>
          <p:nvPr/>
        </p:nvSpPr>
        <p:spPr>
          <a:xfrm>
            <a:off x="384048" y="2331720"/>
            <a:ext cx="8449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Dependence on the availability of scarce specialists is eliminated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" y="2596896"/>
            <a:ext cx="84490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 capability is available at all times through the Operations Assistant. Expertise that currently resides in specific individuals is accessible to all teams equally.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01168" y="3054096"/>
            <a:ext cx="8741664" cy="731520"/>
          </a:xfrm>
          <a:prstGeom prst="rect">
            <a:avLst/>
          </a:prstGeom>
          <a:solidFill>
            <a:srgbClr val="EBF4FB"/>
          </a:solidFill>
          <a:ln/>
        </p:spPr>
      </p:sp>
      <p:sp>
        <p:nvSpPr>
          <p:cNvPr id="18" name="Shape 16"/>
          <p:cNvSpPr/>
          <p:nvPr/>
        </p:nvSpPr>
        <p:spPr>
          <a:xfrm>
            <a:off x="201168" y="3145536"/>
            <a:ext cx="54864" cy="548640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3118104"/>
            <a:ext cx="8449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existing ServiceNow investment is realised as an automation platform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" y="3383280"/>
            <a:ext cx="84490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teams access automation through a natural-language interface requiring no prior technical knowledge. Platform adoption increases through use, not training programmes.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01168" y="3840480"/>
            <a:ext cx="8741664" cy="731520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22" name="Shape 20"/>
          <p:cNvSpPr/>
          <p:nvPr/>
        </p:nvSpPr>
        <p:spPr>
          <a:xfrm>
            <a:off x="201168" y="3931920"/>
            <a:ext cx="54864" cy="548640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23" name="Text 21"/>
          <p:cNvSpPr/>
          <p:nvPr/>
        </p:nvSpPr>
        <p:spPr>
          <a:xfrm>
            <a:off x="384048" y="3904488"/>
            <a:ext cx="8449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operates as an accelerator of delivery, not a constraint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84048" y="4169664"/>
            <a:ext cx="84490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retains real-time visibility and immediate override authority. Approval routing, deadline management, and escalation are handled automatically at all times.</a:t>
            </a:r>
            <a:endParaRPr lang="en-US" sz="95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4" y="4659782"/>
            <a:ext cx="909645" cy="465247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228600" y="4754880"/>
            <a:ext cx="466344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146304"/>
            <a:ext cx="87233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Desired State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-8961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4" name="Shape 2"/>
          <p:cNvSpPr/>
          <p:nvPr/>
        </p:nvSpPr>
        <p:spPr>
          <a:xfrm>
            <a:off x="9048720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5" name="Shape 3"/>
          <p:cNvSpPr/>
          <p:nvPr/>
        </p:nvSpPr>
        <p:spPr>
          <a:xfrm>
            <a:off x="201168" y="676656"/>
            <a:ext cx="4279392" cy="347472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6" name="Text 4"/>
          <p:cNvSpPr/>
          <p:nvPr/>
        </p:nvSpPr>
        <p:spPr>
          <a:xfrm>
            <a:off x="329184" y="676656"/>
            <a:ext cx="4151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OPERATIONS TEAM MEMBERS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01168" y="1024128"/>
            <a:ext cx="4279392" cy="1463040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8" name="Shape 6"/>
          <p:cNvSpPr/>
          <p:nvPr/>
        </p:nvSpPr>
        <p:spPr>
          <a:xfrm>
            <a:off x="384048" y="1335024"/>
            <a:ext cx="82296" cy="82296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152144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plain-English requirement is fulfilled as a permanent automation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" y="2011680"/>
            <a:ext cx="82296" cy="82296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828800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group automations accessible from a single personalised workspace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676656"/>
            <a:ext cx="4279392" cy="347472"/>
          </a:xfrm>
          <a:prstGeom prst="rect">
            <a:avLst/>
          </a:prstGeom>
          <a:solidFill>
            <a:srgbClr val="2670C3"/>
          </a:solidFill>
          <a:ln/>
        </p:spPr>
      </p:sp>
      <p:sp>
        <p:nvSpPr>
          <p:cNvPr id="13" name="Text 11"/>
          <p:cNvSpPr/>
          <p:nvPr/>
        </p:nvSpPr>
        <p:spPr>
          <a:xfrm>
            <a:off x="4791456" y="676656"/>
            <a:ext cx="4151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DESIGNATED CREATORS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024128"/>
            <a:ext cx="4279392" cy="1463040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1335024"/>
            <a:ext cx="82296" cy="82296"/>
          </a:xfrm>
          <a:prstGeom prst="ellipse">
            <a:avLst/>
          </a:prstGeom>
          <a:solidFill>
            <a:srgbClr val="2670C3"/>
          </a:solidFill>
          <a:ln/>
        </p:spPr>
      </p:sp>
      <p:sp>
        <p:nvSpPr>
          <p:cNvPr id="16" name="Text 14"/>
          <p:cNvSpPr/>
          <p:nvPr/>
        </p:nvSpPr>
        <p:spPr>
          <a:xfrm>
            <a:off x="5010912" y="1152144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Automations designed through a structured guided conversation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46320" y="2011680"/>
            <a:ext cx="82296" cy="82296"/>
          </a:xfrm>
          <a:prstGeom prst="ellipse">
            <a:avLst/>
          </a:prstGeom>
          <a:solidFill>
            <a:srgbClr val="2670C3"/>
          </a:solidFill>
          <a:ln/>
        </p:spPr>
      </p:sp>
      <p:sp>
        <p:nvSpPr>
          <p:cNvPr id="18" name="Text 16"/>
          <p:cNvSpPr/>
          <p:nvPr/>
        </p:nvSpPr>
        <p:spPr>
          <a:xfrm>
            <a:off x="5010912" y="1828800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automation lifecycle managed from a single studio interface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01168" y="2560320"/>
            <a:ext cx="4279392" cy="347472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" y="2560320"/>
            <a:ext cx="4151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LEADERSHIP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01168" y="2907792"/>
            <a:ext cx="4279392" cy="1463040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22" name="Shape 20"/>
          <p:cNvSpPr/>
          <p:nvPr/>
        </p:nvSpPr>
        <p:spPr>
          <a:xfrm>
            <a:off x="384048" y="3218688"/>
            <a:ext cx="82296" cy="82296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035808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group automations visible in real time from a single governance view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84048" y="3895344"/>
            <a:ext cx="82296" cy="82296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3712464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Impactful changes route automatically for approval before defined deadlines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2560320"/>
            <a:ext cx="4279392" cy="347472"/>
          </a:xfrm>
          <a:prstGeom prst="rect">
            <a:avLst/>
          </a:prstGeom>
          <a:solidFill>
            <a:srgbClr val="2670C3"/>
          </a:solidFill>
          <a:ln/>
        </p:spPr>
      </p:sp>
      <p:sp>
        <p:nvSpPr>
          <p:cNvPr id="27" name="Text 25"/>
          <p:cNvSpPr/>
          <p:nvPr/>
        </p:nvSpPr>
        <p:spPr>
          <a:xfrm>
            <a:off x="4791456" y="2560320"/>
            <a:ext cx="4151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ORGANISATION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907792"/>
            <a:ext cx="4279392" cy="1463040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846320" y="3218688"/>
            <a:ext cx="82296" cy="82296"/>
          </a:xfrm>
          <a:prstGeom prst="ellipse">
            <a:avLst/>
          </a:prstGeom>
          <a:solidFill>
            <a:srgbClr val="2670C3"/>
          </a:solidFill>
          <a:ln/>
        </p:spPr>
      </p:sp>
      <p:sp>
        <p:nvSpPr>
          <p:cNvPr id="30" name="Text 28"/>
          <p:cNvSpPr/>
          <p:nvPr/>
        </p:nvSpPr>
        <p:spPr>
          <a:xfrm>
            <a:off x="5010912" y="3035808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Recovered capacity directed to project delivery rather than overhead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46320" y="3895344"/>
            <a:ext cx="82296" cy="82296"/>
          </a:xfrm>
          <a:prstGeom prst="ellipse">
            <a:avLst/>
          </a:prstGeom>
          <a:solidFill>
            <a:srgbClr val="2670C3"/>
          </a:solidFill>
          <a:ln/>
        </p:spPr>
      </p:sp>
      <p:sp>
        <p:nvSpPr>
          <p:cNvPr id="32" name="Text 30"/>
          <p:cNvSpPr/>
          <p:nvPr/>
        </p:nvSpPr>
        <p:spPr>
          <a:xfrm>
            <a:off x="5010912" y="3712464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realised as the complete automation platform it was designed to be</a:t>
            </a:r>
            <a:endParaRPr lang="en-US" sz="10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4" y="4659782"/>
            <a:ext cx="909645" cy="465247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228600" y="4754880"/>
            <a:ext cx="466344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146304"/>
            <a:ext cx="87233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-8961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4" name="Shape 2"/>
          <p:cNvSpPr/>
          <p:nvPr/>
        </p:nvSpPr>
        <p:spPr>
          <a:xfrm>
            <a:off x="9048720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5" name="Shape 3"/>
          <p:cNvSpPr/>
          <p:nvPr/>
        </p:nvSpPr>
        <p:spPr>
          <a:xfrm>
            <a:off x="201168" y="676656"/>
            <a:ext cx="4279392" cy="347472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6" name="Text 4"/>
          <p:cNvSpPr/>
          <p:nvPr/>
        </p:nvSpPr>
        <p:spPr>
          <a:xfrm>
            <a:off x="329184" y="676656"/>
            <a:ext cx="4151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PLATFORM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01168" y="1024128"/>
            <a:ext cx="4279392" cy="1463040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8" name="Shape 6"/>
          <p:cNvSpPr/>
          <p:nvPr/>
        </p:nvSpPr>
        <p:spPr>
          <a:xfrm>
            <a:off x="384048" y="1335024"/>
            <a:ext cx="82296" cy="82296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152144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operations teams access a dedicated portal at a single URL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" y="2011680"/>
            <a:ext cx="82296" cy="82296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828800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Role-appropriate sections displayed without page navigation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676656"/>
            <a:ext cx="4279392" cy="347472"/>
          </a:xfrm>
          <a:prstGeom prst="rect">
            <a:avLst/>
          </a:prstGeom>
          <a:solidFill>
            <a:srgbClr val="2670C3"/>
          </a:solidFill>
          <a:ln/>
        </p:spPr>
      </p:sp>
      <p:sp>
        <p:nvSpPr>
          <p:cNvPr id="13" name="Text 11"/>
          <p:cNvSpPr/>
          <p:nvPr/>
        </p:nvSpPr>
        <p:spPr>
          <a:xfrm>
            <a:off x="4791456" y="676656"/>
            <a:ext cx="4151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LANGUAGE INTERFACE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024128"/>
            <a:ext cx="4279392" cy="1463040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1335024"/>
            <a:ext cx="82296" cy="82296"/>
          </a:xfrm>
          <a:prstGeom prst="ellipse">
            <a:avLst/>
          </a:prstGeom>
          <a:solidFill>
            <a:srgbClr val="2670C3"/>
          </a:solidFill>
          <a:ln/>
        </p:spPr>
      </p:sp>
      <p:sp>
        <p:nvSpPr>
          <p:cNvPr id="16" name="Text 14"/>
          <p:cNvSpPr/>
          <p:nvPr/>
        </p:nvSpPr>
        <p:spPr>
          <a:xfrm>
            <a:off x="5010912" y="1152144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platform interactions conducted through natural language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46320" y="2011680"/>
            <a:ext cx="82296" cy="82296"/>
          </a:xfrm>
          <a:prstGeom prst="ellipse">
            <a:avLst/>
          </a:prstGeom>
          <a:solidFill>
            <a:srgbClr val="2670C3"/>
          </a:solidFill>
          <a:ln/>
        </p:spPr>
      </p:sp>
      <p:sp>
        <p:nvSpPr>
          <p:cNvPr id="18" name="Text 16"/>
          <p:cNvSpPr/>
          <p:nvPr/>
        </p:nvSpPr>
        <p:spPr>
          <a:xfrm>
            <a:off x="5010912" y="1828800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guided conversation produces the complete technical specification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01168" y="2560320"/>
            <a:ext cx="4279392" cy="347472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" y="2560320"/>
            <a:ext cx="4151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PROPORTIONAL GOVERNANCE MODEL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01168" y="2907792"/>
            <a:ext cx="4279392" cy="1463040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22" name="Shape 20"/>
          <p:cNvSpPr/>
          <p:nvPr/>
        </p:nvSpPr>
        <p:spPr>
          <a:xfrm>
            <a:off x="384048" y="3218688"/>
            <a:ext cx="82296" cy="82296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035808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requirements scale proportionally with the impact of the change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84048" y="3895344"/>
            <a:ext cx="82296" cy="82296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3712464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Deadlines and escalation paths automated for every pending action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2560320"/>
            <a:ext cx="4279392" cy="347472"/>
          </a:xfrm>
          <a:prstGeom prst="rect">
            <a:avLst/>
          </a:prstGeom>
          <a:solidFill>
            <a:srgbClr val="2670C3"/>
          </a:solidFill>
          <a:ln/>
        </p:spPr>
      </p:sp>
      <p:sp>
        <p:nvSpPr>
          <p:cNvPr id="27" name="Text 25"/>
          <p:cNvSpPr/>
          <p:nvPr/>
        </p:nvSpPr>
        <p:spPr>
          <a:xfrm>
            <a:off x="4791456" y="2560320"/>
            <a:ext cx="4151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AI-AUGMENTED CREATION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907792"/>
            <a:ext cx="4279392" cy="1463040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846320" y="3218688"/>
            <a:ext cx="82296" cy="82296"/>
          </a:xfrm>
          <a:prstGeom prst="ellipse">
            <a:avLst/>
          </a:prstGeom>
          <a:solidFill>
            <a:srgbClr val="2670C3"/>
          </a:solidFill>
          <a:ln/>
        </p:spPr>
      </p:sp>
      <p:sp>
        <p:nvSpPr>
          <p:cNvPr id="30" name="Text 28"/>
          <p:cNvSpPr/>
          <p:nvPr/>
        </p:nvSpPr>
        <p:spPr>
          <a:xfrm>
            <a:off x="5010912" y="3035808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generates technical specifications on request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46320" y="3895344"/>
            <a:ext cx="82296" cy="82296"/>
          </a:xfrm>
          <a:prstGeom prst="ellipse">
            <a:avLst/>
          </a:prstGeom>
          <a:solidFill>
            <a:srgbClr val="2670C3"/>
          </a:solidFill>
          <a:ln/>
        </p:spPr>
      </p:sp>
      <p:sp>
        <p:nvSpPr>
          <p:cNvPr id="32" name="Text 30"/>
          <p:cNvSpPr/>
          <p:nvPr/>
        </p:nvSpPr>
        <p:spPr>
          <a:xfrm>
            <a:off x="5010912" y="3712464"/>
            <a:ext cx="380390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Copilot output is confirmed by the creator before being applied</a:t>
            </a:r>
            <a:endParaRPr lang="en-US" sz="10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4" y="4659782"/>
            <a:ext cx="909645" cy="465247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228600" y="4754880"/>
            <a:ext cx="466344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8961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3" name="Shape 1"/>
          <p:cNvSpPr/>
          <p:nvPr/>
        </p:nvSpPr>
        <p:spPr>
          <a:xfrm>
            <a:off x="9048720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4" name="Text 2"/>
          <p:cNvSpPr/>
          <p:nvPr/>
        </p:nvSpPr>
        <p:spPr>
          <a:xfrm>
            <a:off x="201168" y="146304"/>
            <a:ext cx="87233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— Current Progress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01168" y="621792"/>
            <a:ext cx="8741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Early-stage prototype under active development — foundational capabilities in place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01168" y="950976"/>
            <a:ext cx="8741664" cy="786384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7" name="Shape 5"/>
          <p:cNvSpPr/>
          <p:nvPr/>
        </p:nvSpPr>
        <p:spPr>
          <a:xfrm>
            <a:off x="201168" y="950976"/>
            <a:ext cx="64008" cy="786384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8" name="Text 6"/>
          <p:cNvSpPr/>
          <p:nvPr/>
        </p:nvSpPr>
        <p:spPr>
          <a:xfrm>
            <a:off x="301752" y="950976"/>
            <a:ext cx="78638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124712" y="1060704"/>
            <a:ext cx="10973" cy="5669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Text 8"/>
          <p:cNvSpPr/>
          <p:nvPr/>
        </p:nvSpPr>
        <p:spPr>
          <a:xfrm>
            <a:off x="1161288" y="10607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Portal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20440" y="1060704"/>
            <a:ext cx="10973" cy="5669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3557016" y="1097280"/>
            <a:ext cx="73152" cy="73152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13" name="Text 11"/>
          <p:cNvSpPr/>
          <p:nvPr/>
        </p:nvSpPr>
        <p:spPr>
          <a:xfrm>
            <a:off x="3685032" y="1042416"/>
            <a:ext cx="5166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portal deployed on the development instance; role-filtered sections accessible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557016" y="1426464"/>
            <a:ext cx="73152" cy="73152"/>
          </a:xfrm>
          <a:prstGeom prst="ellipse">
            <a:avLst/>
          </a:prstGeom>
          <a:solidFill>
            <a:srgbClr val="B8B8B8"/>
          </a:solidFill>
          <a:ln/>
        </p:spPr>
      </p:sp>
      <p:sp>
        <p:nvSpPr>
          <p:cNvPr id="15" name="Text 13"/>
          <p:cNvSpPr/>
          <p:nvPr/>
        </p:nvSpPr>
        <p:spPr>
          <a:xfrm>
            <a:off x="3685032" y="1371600"/>
            <a:ext cx="5166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refinements and end-to-end workflow validation are ongoing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01168" y="1810512"/>
            <a:ext cx="8741664" cy="786384"/>
          </a:xfrm>
          <a:prstGeom prst="rect">
            <a:avLst/>
          </a:prstGeom>
          <a:solidFill>
            <a:srgbClr val="EBF4FB"/>
          </a:solidFill>
          <a:ln/>
        </p:spPr>
      </p:sp>
      <p:sp>
        <p:nvSpPr>
          <p:cNvPr id="17" name="Shape 15"/>
          <p:cNvSpPr/>
          <p:nvPr/>
        </p:nvSpPr>
        <p:spPr>
          <a:xfrm>
            <a:off x="201168" y="1810512"/>
            <a:ext cx="64008" cy="786384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8" name="Text 16"/>
          <p:cNvSpPr/>
          <p:nvPr/>
        </p:nvSpPr>
        <p:spPr>
          <a:xfrm>
            <a:off x="301752" y="1810512"/>
            <a:ext cx="78638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124712" y="1920240"/>
            <a:ext cx="10973" cy="5669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Text 18"/>
          <p:cNvSpPr/>
          <p:nvPr/>
        </p:nvSpPr>
        <p:spPr>
          <a:xfrm>
            <a:off x="1161288" y="192024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Module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520440" y="1920240"/>
            <a:ext cx="10973" cy="5669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57016" y="1956816"/>
            <a:ext cx="73152" cy="73152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23" name="Text 21"/>
          <p:cNvSpPr/>
          <p:nvPr/>
        </p:nvSpPr>
        <p:spPr>
          <a:xfrm>
            <a:off x="3685032" y="1901952"/>
            <a:ext cx="5166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Access, Users, Groups, and Pending Actions tabs accessible with initial support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557016" y="2286000"/>
            <a:ext cx="73152" cy="73152"/>
          </a:xfrm>
          <a:prstGeom prst="ellipse">
            <a:avLst/>
          </a:prstGeom>
          <a:solidFill>
            <a:srgbClr val="B8B8B8"/>
          </a:solidFill>
          <a:ln/>
        </p:spPr>
      </p:sp>
      <p:sp>
        <p:nvSpPr>
          <p:cNvPr id="25" name="Text 23"/>
          <p:cNvSpPr/>
          <p:nvPr/>
        </p:nvSpPr>
        <p:spPr>
          <a:xfrm>
            <a:off x="3685032" y="2231136"/>
            <a:ext cx="5166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routing and escalation logic initialised; stress-testing in progress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01168" y="2670048"/>
            <a:ext cx="8741664" cy="786384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27" name="Shape 25"/>
          <p:cNvSpPr/>
          <p:nvPr/>
        </p:nvSpPr>
        <p:spPr>
          <a:xfrm>
            <a:off x="201168" y="2670048"/>
            <a:ext cx="64008" cy="786384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28" name="Text 26"/>
          <p:cNvSpPr/>
          <p:nvPr/>
        </p:nvSpPr>
        <p:spPr>
          <a:xfrm>
            <a:off x="301752" y="2670048"/>
            <a:ext cx="78638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1124712" y="2779776"/>
            <a:ext cx="10973" cy="5669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0" name="Text 28"/>
          <p:cNvSpPr/>
          <p:nvPr/>
        </p:nvSpPr>
        <p:spPr>
          <a:xfrm>
            <a:off x="1161288" y="2779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Module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20440" y="2779776"/>
            <a:ext cx="10973" cy="5669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2" name="Shape 30"/>
          <p:cNvSpPr/>
          <p:nvPr/>
        </p:nvSpPr>
        <p:spPr>
          <a:xfrm>
            <a:off x="3557016" y="2816352"/>
            <a:ext cx="73152" cy="73152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33" name="Text 31"/>
          <p:cNvSpPr/>
          <p:nvPr/>
        </p:nvSpPr>
        <p:spPr>
          <a:xfrm>
            <a:off x="3685032" y="2761488"/>
            <a:ext cx="5166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Automations and Deliverables tabs accessible; create-and-publish flow initialised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557016" y="3145536"/>
            <a:ext cx="73152" cy="73152"/>
          </a:xfrm>
          <a:prstGeom prst="ellipse">
            <a:avLst/>
          </a:prstGeom>
          <a:solidFill>
            <a:srgbClr val="B8B8B8"/>
          </a:solidFill>
          <a:ln/>
        </p:spPr>
      </p:sp>
      <p:sp>
        <p:nvSpPr>
          <p:cNvPr id="35" name="Text 33"/>
          <p:cNvSpPr/>
          <p:nvPr/>
        </p:nvSpPr>
        <p:spPr>
          <a:xfrm>
            <a:off x="3685032" y="3090672"/>
            <a:ext cx="5166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role scoping and group-level workflows being validated iteratively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01168" y="3529584"/>
            <a:ext cx="8741664" cy="786384"/>
          </a:xfrm>
          <a:prstGeom prst="rect">
            <a:avLst/>
          </a:prstGeom>
          <a:solidFill>
            <a:srgbClr val="EB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201168" y="3529584"/>
            <a:ext cx="64008" cy="786384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38" name="Text 36"/>
          <p:cNvSpPr/>
          <p:nvPr/>
        </p:nvSpPr>
        <p:spPr>
          <a:xfrm>
            <a:off x="301752" y="3529584"/>
            <a:ext cx="78638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124712" y="3639312"/>
            <a:ext cx="10973" cy="5669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0" name="Text 38"/>
          <p:cNvSpPr/>
          <p:nvPr/>
        </p:nvSpPr>
        <p:spPr>
          <a:xfrm>
            <a:off x="1161288" y="36393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Assistant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520440" y="3639312"/>
            <a:ext cx="10973" cy="5669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2" name="Shape 40"/>
          <p:cNvSpPr/>
          <p:nvPr/>
        </p:nvSpPr>
        <p:spPr>
          <a:xfrm>
            <a:off x="3557016" y="3675888"/>
            <a:ext cx="73152" cy="73152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43" name="Text 41"/>
          <p:cNvSpPr/>
          <p:nvPr/>
        </p:nvSpPr>
        <p:spPr>
          <a:xfrm>
            <a:off x="3685032" y="3621024"/>
            <a:ext cx="5166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Three-layer NLU active across 50+ ServiceNow domains; advisor mode available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557016" y="4005072"/>
            <a:ext cx="73152" cy="73152"/>
          </a:xfrm>
          <a:prstGeom prst="ellipse">
            <a:avLst/>
          </a:prstGeom>
          <a:solidFill>
            <a:srgbClr val="B8B8B8"/>
          </a:solidFill>
          <a:ln/>
        </p:spPr>
      </p:sp>
      <p:sp>
        <p:nvSpPr>
          <p:cNvPr id="45" name="Text 43"/>
          <p:cNvSpPr/>
          <p:nvPr/>
        </p:nvSpPr>
        <p:spPr>
          <a:xfrm>
            <a:off x="3685032" y="3950208"/>
            <a:ext cx="5166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accuracy and edge case coverage being refined continuously</a:t>
            </a:r>
            <a:endParaRPr lang="en-US" sz="950" dirty="0"/>
          </a:p>
        </p:txBody>
      </p:sp>
      <p:pic>
        <p:nvPicPr>
          <p:cNvPr id="4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4" y="4659782"/>
            <a:ext cx="909645" cy="465247"/>
          </a:xfrm>
          <a:prstGeom prst="rect">
            <a:avLst/>
          </a:prstGeom>
        </p:spPr>
      </p:pic>
      <p:sp>
        <p:nvSpPr>
          <p:cNvPr id="47" name="Text 44"/>
          <p:cNvSpPr/>
          <p:nvPr/>
        </p:nvSpPr>
        <p:spPr>
          <a:xfrm>
            <a:off x="228600" y="4754880"/>
            <a:ext cx="466344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8961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3" name="Shape 1"/>
          <p:cNvSpPr/>
          <p:nvPr/>
        </p:nvSpPr>
        <p:spPr>
          <a:xfrm>
            <a:off x="9048720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4" name="Text 2"/>
          <p:cNvSpPr/>
          <p:nvPr/>
        </p:nvSpPr>
        <p:spPr>
          <a:xfrm>
            <a:off x="201168" y="146304"/>
            <a:ext cx="87233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Roadmap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01168" y="621792"/>
            <a:ext cx="8741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Phased enhancement approach following initial prototype deployment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01168" y="932688"/>
            <a:ext cx="2066544" cy="457200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" y="932688"/>
            <a:ext cx="493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1005840"/>
            <a:ext cx="10973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950976"/>
            <a:ext cx="13167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77824" y="1207008"/>
            <a:ext cx="566928" cy="1463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1207008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01168" y="1389888"/>
            <a:ext cx="2066544" cy="2377440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29184" y="1719072"/>
            <a:ext cx="73152" cy="73152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536192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Portal, governance, studio, and assistant deployed on development instance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9184" y="2414016"/>
            <a:ext cx="73152" cy="73152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231136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control and audit logging active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9184" y="3108960"/>
            <a:ext cx="73152" cy="73152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926080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Three-layer NLU and 50+ domain knowledge base in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49424" y="1024128"/>
            <a:ext cx="146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377440" y="932688"/>
            <a:ext cx="2066544" cy="457200"/>
          </a:xfrm>
          <a:prstGeom prst="rect">
            <a:avLst/>
          </a:prstGeom>
          <a:solidFill>
            <a:srgbClr val="2670C3"/>
          </a:solidFill>
          <a:ln/>
        </p:spPr>
      </p:sp>
      <p:sp>
        <p:nvSpPr>
          <p:cNvPr id="21" name="Text 19"/>
          <p:cNvSpPr/>
          <p:nvPr/>
        </p:nvSpPr>
        <p:spPr>
          <a:xfrm>
            <a:off x="2468880" y="932688"/>
            <a:ext cx="493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2999232" y="1005840"/>
            <a:ext cx="10973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3054096" y="950976"/>
            <a:ext cx="13167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377440" y="1389888"/>
            <a:ext cx="2066544" cy="2377440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25" name="Shape 23"/>
          <p:cNvSpPr/>
          <p:nvPr/>
        </p:nvSpPr>
        <p:spPr>
          <a:xfrm>
            <a:off x="2505456" y="1719072"/>
            <a:ext cx="73152" cy="73152"/>
          </a:xfrm>
          <a:prstGeom prst="ellipse">
            <a:avLst/>
          </a:prstGeom>
          <a:solidFill>
            <a:srgbClr val="2670C3"/>
          </a:solidFill>
          <a:ln/>
        </p:spPr>
      </p:sp>
      <p:sp>
        <p:nvSpPr>
          <p:cNvPr id="26" name="Text 24"/>
          <p:cNvSpPr/>
          <p:nvPr/>
        </p:nvSpPr>
        <p:spPr>
          <a:xfrm>
            <a:off x="2633472" y="1536192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workflow validation and defect resolution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505456" y="2414016"/>
            <a:ext cx="73152" cy="73152"/>
          </a:xfrm>
          <a:prstGeom prst="ellipse">
            <a:avLst/>
          </a:prstGeom>
          <a:solidFill>
            <a:srgbClr val="2670C3"/>
          </a:solidFill>
          <a:ln/>
        </p:spPr>
      </p:sp>
      <p:sp>
        <p:nvSpPr>
          <p:cNvPr id="28" name="Text 26"/>
          <p:cNvSpPr/>
          <p:nvPr/>
        </p:nvSpPr>
        <p:spPr>
          <a:xfrm>
            <a:off x="2633472" y="2231136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consistency, accessibility, and performance improvements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505456" y="3108960"/>
            <a:ext cx="73152" cy="73152"/>
          </a:xfrm>
          <a:prstGeom prst="ellipse">
            <a:avLst/>
          </a:prstGeom>
          <a:solidFill>
            <a:srgbClr val="2670C3"/>
          </a:solidFill>
          <a:ln/>
        </p:spPr>
      </p:sp>
      <p:sp>
        <p:nvSpPr>
          <p:cNvPr id="30" name="Text 28"/>
          <p:cNvSpPr/>
          <p:nvPr/>
        </p:nvSpPr>
        <p:spPr>
          <a:xfrm>
            <a:off x="2633472" y="2926080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approval flow and escalation stress-tested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425696" y="1024128"/>
            <a:ext cx="146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53712" y="932688"/>
            <a:ext cx="2066544" cy="457200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33" name="Text 31"/>
          <p:cNvSpPr/>
          <p:nvPr/>
        </p:nvSpPr>
        <p:spPr>
          <a:xfrm>
            <a:off x="4645152" y="932688"/>
            <a:ext cx="493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5175504" y="1005840"/>
            <a:ext cx="10973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5230368" y="950976"/>
            <a:ext cx="13167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ENHANCEMENT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53712" y="1389888"/>
            <a:ext cx="2066544" cy="2377440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37" name="Shape 35"/>
          <p:cNvSpPr/>
          <p:nvPr/>
        </p:nvSpPr>
        <p:spPr>
          <a:xfrm>
            <a:off x="4681728" y="1719072"/>
            <a:ext cx="73152" cy="73152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38" name="Text 36"/>
          <p:cNvSpPr/>
          <p:nvPr/>
        </p:nvSpPr>
        <p:spPr>
          <a:xfrm>
            <a:off x="4809744" y="1536192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NLU coverage and additional deliverable builder types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681728" y="2414016"/>
            <a:ext cx="73152" cy="73152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40" name="Text 38"/>
          <p:cNvSpPr/>
          <p:nvPr/>
        </p:nvSpPr>
        <p:spPr>
          <a:xfrm>
            <a:off x="4809744" y="2231136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tooling and use case guidance refinements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681728" y="3108960"/>
            <a:ext cx="73152" cy="73152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42" name="Text 40"/>
          <p:cNvSpPr/>
          <p:nvPr/>
        </p:nvSpPr>
        <p:spPr>
          <a:xfrm>
            <a:off x="4809744" y="2926080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Improved contextual accuracy and response quality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601968" y="1024128"/>
            <a:ext cx="146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729984" y="932688"/>
            <a:ext cx="2066544" cy="457200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5" name="Text 43"/>
          <p:cNvSpPr/>
          <p:nvPr/>
        </p:nvSpPr>
        <p:spPr>
          <a:xfrm>
            <a:off x="6821424" y="932688"/>
            <a:ext cx="493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7351776" y="1005840"/>
            <a:ext cx="10973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7406640" y="950976"/>
            <a:ext cx="13167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729984" y="1389888"/>
            <a:ext cx="2066544" cy="2377440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49" name="Shape 47"/>
          <p:cNvSpPr/>
          <p:nvPr/>
        </p:nvSpPr>
        <p:spPr>
          <a:xfrm>
            <a:off x="6858000" y="1719072"/>
            <a:ext cx="73152" cy="7315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0" name="Text 48"/>
          <p:cNvSpPr/>
          <p:nvPr/>
        </p:nvSpPr>
        <p:spPr>
          <a:xfrm>
            <a:off x="6986016" y="1536192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Multi-group automation sharing and cross-team governance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858000" y="2414016"/>
            <a:ext cx="73152" cy="7315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2" name="Text 50"/>
          <p:cNvSpPr/>
          <p:nvPr/>
        </p:nvSpPr>
        <p:spPr>
          <a:xfrm>
            <a:off x="6986016" y="2231136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dashboard for operations and governance insights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858000" y="3108960"/>
            <a:ext cx="73152" cy="7315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4" name="Text 52"/>
          <p:cNvSpPr/>
          <p:nvPr/>
        </p:nvSpPr>
        <p:spPr>
          <a:xfrm>
            <a:off x="6986016" y="2926080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Broader onboarding programmes and adoption tracking</a:t>
            </a:r>
            <a:endParaRPr lang="en-US" sz="850" dirty="0"/>
          </a:p>
        </p:txBody>
      </p:sp>
      <p:pic>
        <p:nvPicPr>
          <p:cNvPr id="5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4" y="4659782"/>
            <a:ext cx="909645" cy="465247"/>
          </a:xfrm>
          <a:prstGeom prst="rect">
            <a:avLst/>
          </a:prstGeom>
        </p:spPr>
      </p:pic>
      <p:sp>
        <p:nvSpPr>
          <p:cNvPr id="56" name="Text 53"/>
          <p:cNvSpPr/>
          <p:nvPr/>
        </p:nvSpPr>
        <p:spPr>
          <a:xfrm>
            <a:off x="228600" y="4754880"/>
            <a:ext cx="466344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146304"/>
            <a:ext cx="87233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Repository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-8961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4" name="Shape 2"/>
          <p:cNvSpPr/>
          <p:nvPr/>
        </p:nvSpPr>
        <p:spPr>
          <a:xfrm>
            <a:off x="9048720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5" name="Text 3"/>
          <p:cNvSpPr/>
          <p:nvPr/>
        </p:nvSpPr>
        <p:spPr>
          <a:xfrm>
            <a:off x="201168" y="640080"/>
            <a:ext cx="8741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 of truth — all platform documentation, source code, and Copilot AI instructions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01168" y="950976"/>
            <a:ext cx="8741664" cy="347472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950976"/>
            <a:ext cx="8613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github.com/Infosys-GithubCopilot-backup/Operations-Intelligence-Source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1168" y="1353312"/>
            <a:ext cx="6144768" cy="3182112"/>
          </a:xfrm>
          <a:prstGeom prst="rect">
            <a:avLst/>
          </a:prstGeom>
          <a:solidFill>
            <a:srgbClr val="F5FA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" y="1353312"/>
            <a:ext cx="6144768" cy="347472"/>
          </a:xfrm>
          <a:prstGeom prst="rect">
            <a:avLst/>
          </a:prstGeom>
          <a:solidFill>
            <a:srgbClr val="EBF4FB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" y="1353312"/>
            <a:ext cx="5998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CONTENTS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127248" y="1353312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Operations-Intelligence-Source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4048" y="1892808"/>
            <a:ext cx="91440" cy="91440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" y="1773936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.github /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737360" y="1911096"/>
            <a:ext cx="54864" cy="54864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/>
          <p:nvPr/>
        </p:nvSpPr>
        <p:spPr>
          <a:xfrm>
            <a:off x="1883664" y="1773936"/>
            <a:ext cx="4315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instructions — auto-loaded on repository open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4048" y="2276856"/>
            <a:ext cx="91440" cy="91440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7" name="Text 15"/>
          <p:cNvSpPr/>
          <p:nvPr/>
        </p:nvSpPr>
        <p:spPr>
          <a:xfrm>
            <a:off x="530352" y="2157984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/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737360" y="2295144"/>
            <a:ext cx="54864" cy="54864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9" name="Text 17"/>
          <p:cNvSpPr/>
          <p:nvPr/>
        </p:nvSpPr>
        <p:spPr>
          <a:xfrm>
            <a:off x="1883664" y="2157984"/>
            <a:ext cx="4315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architecture, data model, and role definitions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84048" y="2660904"/>
            <a:ext cx="91440" cy="91440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" y="2542032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/  ·  01–05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737360" y="2679192"/>
            <a:ext cx="54864" cy="54864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3" name="Text 21"/>
          <p:cNvSpPr/>
          <p:nvPr/>
        </p:nvSpPr>
        <p:spPr>
          <a:xfrm>
            <a:off x="1883664" y="2542032"/>
            <a:ext cx="4315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context, problem statement, and value canon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84048" y="3044952"/>
            <a:ext cx="91440" cy="91440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25" name="Text 23"/>
          <p:cNvSpPr/>
          <p:nvPr/>
        </p:nvSpPr>
        <p:spPr>
          <a:xfrm>
            <a:off x="530352" y="2926080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/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737360" y="3063240"/>
            <a:ext cx="54864" cy="54864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7" name="Text 25"/>
          <p:cNvSpPr/>
          <p:nvPr/>
        </p:nvSpPr>
        <p:spPr>
          <a:xfrm>
            <a:off x="1883664" y="2926080"/>
            <a:ext cx="4315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source (117 operations), portal widget, background scripts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" y="3429000"/>
            <a:ext cx="91440" cy="914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3310128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/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956816" y="3447288"/>
            <a:ext cx="54864" cy="54864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1" name="Text 29"/>
          <p:cNvSpPr/>
          <p:nvPr/>
        </p:nvSpPr>
        <p:spPr>
          <a:xfrm>
            <a:off x="2103120" y="3310128"/>
            <a:ext cx="40965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Engine, portal widget JS/CSS, deployment scripts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3504" y="3813048"/>
            <a:ext cx="91440" cy="914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3694176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/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956816" y="3831336"/>
            <a:ext cx="54864" cy="54864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5" name="Text 33"/>
          <p:cNvSpPr/>
          <p:nvPr/>
        </p:nvSpPr>
        <p:spPr>
          <a:xfrm>
            <a:off x="2103120" y="3694176"/>
            <a:ext cx="40965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reference, coding patterns, schema definitions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84048" y="4197096"/>
            <a:ext cx="91440" cy="91440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37" name="Text 35"/>
          <p:cNvSpPr/>
          <p:nvPr/>
        </p:nvSpPr>
        <p:spPr>
          <a:xfrm>
            <a:off x="530352" y="4078224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7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/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737360" y="4215384"/>
            <a:ext cx="54864" cy="54864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9" name="Text 37"/>
          <p:cNvSpPr/>
          <p:nvPr/>
        </p:nvSpPr>
        <p:spPr>
          <a:xfrm>
            <a:off x="1883664" y="4078224"/>
            <a:ext cx="4315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glossary for all identifiers and terms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47472" y="4206240"/>
            <a:ext cx="5852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developer opening this repository with GitHub Copilot receives full platform context with no additional setup required.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510528" y="1353312"/>
            <a:ext cx="2432304" cy="1517904"/>
          </a:xfrm>
          <a:prstGeom prst="rect">
            <a:avLst/>
          </a:prstGeom>
          <a:solidFill>
            <a:srgbClr val="EBF4FB"/>
          </a:solidFill>
          <a:ln/>
        </p:spPr>
      </p:sp>
      <p:sp>
        <p:nvSpPr>
          <p:cNvPr id="42" name="Shape 40"/>
          <p:cNvSpPr/>
          <p:nvPr/>
        </p:nvSpPr>
        <p:spPr>
          <a:xfrm>
            <a:off x="6510528" y="1353312"/>
            <a:ext cx="2432304" cy="29260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43" name="Text 41"/>
          <p:cNvSpPr/>
          <p:nvPr/>
        </p:nvSpPr>
        <p:spPr>
          <a:xfrm>
            <a:off x="6638544" y="1353312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COPILOT KNOWS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675120" y="1810512"/>
            <a:ext cx="64008" cy="64008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45" name="Text 43"/>
          <p:cNvSpPr/>
          <p:nvPr/>
        </p:nvSpPr>
        <p:spPr>
          <a:xfrm>
            <a:off x="6803136" y="1755648"/>
            <a:ext cx="20299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 documented engine operations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75120" y="2048256"/>
            <a:ext cx="64008" cy="64008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47" name="Text 45"/>
          <p:cNvSpPr/>
          <p:nvPr/>
        </p:nvSpPr>
        <p:spPr>
          <a:xfrm>
            <a:off x="6803136" y="1993392"/>
            <a:ext cx="20299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ServiceNow domain topics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675120" y="2286000"/>
            <a:ext cx="64008" cy="64008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49" name="Text 47"/>
          <p:cNvSpPr/>
          <p:nvPr/>
        </p:nvSpPr>
        <p:spPr>
          <a:xfrm>
            <a:off x="6803136" y="2231136"/>
            <a:ext cx="20299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architecture and data model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75120" y="2523744"/>
            <a:ext cx="64008" cy="64008"/>
          </a:xfrm>
          <a:prstGeom prst="ellipse">
            <a:avLst/>
          </a:prstGeom>
          <a:solidFill>
            <a:srgbClr val="007CC3"/>
          </a:solidFill>
          <a:ln/>
        </p:spPr>
      </p:sp>
      <p:sp>
        <p:nvSpPr>
          <p:cNvPr id="51" name="Text 49"/>
          <p:cNvSpPr/>
          <p:nvPr/>
        </p:nvSpPr>
        <p:spPr>
          <a:xfrm>
            <a:off x="6803136" y="2468880"/>
            <a:ext cx="20299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glossary and identifiers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510528" y="2944368"/>
            <a:ext cx="2432304" cy="1591056"/>
          </a:xfrm>
          <a:prstGeom prst="rect">
            <a:avLst/>
          </a:prstGeom>
          <a:solidFill>
            <a:srgbClr val="F5FAFF"/>
          </a:solidFill>
          <a:ln/>
        </p:spPr>
      </p:sp>
      <p:sp>
        <p:nvSpPr>
          <p:cNvPr id="53" name="Shape 51"/>
          <p:cNvSpPr/>
          <p:nvPr/>
        </p:nvSpPr>
        <p:spPr>
          <a:xfrm>
            <a:off x="6510528" y="2944368"/>
            <a:ext cx="2432304" cy="292608"/>
          </a:xfrm>
          <a:prstGeom prst="rect">
            <a:avLst/>
          </a:prstGeom>
          <a:solidFill>
            <a:srgbClr val="2670C3"/>
          </a:solidFill>
          <a:ln/>
        </p:spPr>
      </p:sp>
      <p:sp>
        <p:nvSpPr>
          <p:cNvPr id="54" name="Text 52"/>
          <p:cNvSpPr/>
          <p:nvPr/>
        </p:nvSpPr>
        <p:spPr>
          <a:xfrm>
            <a:off x="6638544" y="2944368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675120" y="3401568"/>
            <a:ext cx="64008" cy="64008"/>
          </a:xfrm>
          <a:prstGeom prst="rect">
            <a:avLst/>
          </a:prstGeom>
          <a:solidFill>
            <a:srgbClr val="2670C3"/>
          </a:solidFill>
          <a:ln/>
        </p:spPr>
      </p:sp>
      <p:sp>
        <p:nvSpPr>
          <p:cNvPr id="56" name="Text 54"/>
          <p:cNvSpPr/>
          <p:nvPr/>
        </p:nvSpPr>
        <p:spPr>
          <a:xfrm>
            <a:off x="6803136" y="3346704"/>
            <a:ext cx="20299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repository in VS Code or GitHub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675120" y="3639312"/>
            <a:ext cx="64008" cy="64008"/>
          </a:xfrm>
          <a:prstGeom prst="rect">
            <a:avLst/>
          </a:prstGeom>
          <a:solidFill>
            <a:srgbClr val="2670C3"/>
          </a:solidFill>
          <a:ln/>
        </p:spPr>
      </p:sp>
      <p:sp>
        <p:nvSpPr>
          <p:cNvPr id="58" name="Text 56"/>
          <p:cNvSpPr/>
          <p:nvPr/>
        </p:nvSpPr>
        <p:spPr>
          <a:xfrm>
            <a:off x="6803136" y="3584448"/>
            <a:ext cx="20299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Ensure GitHub Copilot is active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675120" y="3877056"/>
            <a:ext cx="64008" cy="64008"/>
          </a:xfrm>
          <a:prstGeom prst="rect">
            <a:avLst/>
          </a:prstGeom>
          <a:solidFill>
            <a:srgbClr val="2670C3"/>
          </a:solidFill>
          <a:ln/>
        </p:spPr>
      </p:sp>
      <p:sp>
        <p:nvSpPr>
          <p:cNvPr id="60" name="Text 58"/>
          <p:cNvSpPr/>
          <p:nvPr/>
        </p:nvSpPr>
        <p:spPr>
          <a:xfrm>
            <a:off x="6803136" y="3822192"/>
            <a:ext cx="20299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any question in plain English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675120" y="4114800"/>
            <a:ext cx="64008" cy="64008"/>
          </a:xfrm>
          <a:prstGeom prst="rect">
            <a:avLst/>
          </a:prstGeom>
          <a:solidFill>
            <a:srgbClr val="2670C3"/>
          </a:solidFill>
          <a:ln/>
        </p:spPr>
      </p:sp>
      <p:sp>
        <p:nvSpPr>
          <p:cNvPr id="62" name="Text 60"/>
          <p:cNvSpPr/>
          <p:nvPr/>
        </p:nvSpPr>
        <p:spPr>
          <a:xfrm>
            <a:off x="6803136" y="4059936"/>
            <a:ext cx="20299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answers from the source</a:t>
            </a:r>
            <a:endParaRPr lang="en-US" sz="900" dirty="0"/>
          </a:p>
        </p:txBody>
      </p:sp>
      <p:pic>
        <p:nvPicPr>
          <p:cNvPr id="6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4" y="4659782"/>
            <a:ext cx="909645" cy="465247"/>
          </a:xfrm>
          <a:prstGeom prst="rect">
            <a:avLst/>
          </a:prstGeom>
        </p:spPr>
      </p:pic>
      <p:sp>
        <p:nvSpPr>
          <p:cNvPr id="64" name="Text 61"/>
          <p:cNvSpPr/>
          <p:nvPr/>
        </p:nvSpPr>
        <p:spPr>
          <a:xfrm>
            <a:off x="228600" y="4754880"/>
            <a:ext cx="466344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0" y="1289304"/>
            <a:ext cx="317296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7C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-8961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4" name="Shape 2"/>
          <p:cNvSpPr/>
          <p:nvPr/>
        </p:nvSpPr>
        <p:spPr>
          <a:xfrm>
            <a:off x="523860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5" name="Shape 3"/>
          <p:cNvSpPr/>
          <p:nvPr/>
        </p:nvSpPr>
        <p:spPr>
          <a:xfrm>
            <a:off x="1056681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6" name="Shape 4"/>
          <p:cNvSpPr/>
          <p:nvPr/>
        </p:nvSpPr>
        <p:spPr>
          <a:xfrm>
            <a:off x="1589502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7" name="Shape 5"/>
          <p:cNvSpPr/>
          <p:nvPr/>
        </p:nvSpPr>
        <p:spPr>
          <a:xfrm>
            <a:off x="2122322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8" name="Shape 6"/>
          <p:cNvSpPr/>
          <p:nvPr/>
        </p:nvSpPr>
        <p:spPr>
          <a:xfrm>
            <a:off x="2655052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9" name="Shape 7"/>
          <p:cNvSpPr/>
          <p:nvPr/>
        </p:nvSpPr>
        <p:spPr>
          <a:xfrm>
            <a:off x="3187873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0" name="Shape 8"/>
          <p:cNvSpPr/>
          <p:nvPr/>
        </p:nvSpPr>
        <p:spPr>
          <a:xfrm>
            <a:off x="3720694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1" name="Shape 9"/>
          <p:cNvSpPr/>
          <p:nvPr/>
        </p:nvSpPr>
        <p:spPr>
          <a:xfrm>
            <a:off x="4253514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2" name="Shape 10"/>
          <p:cNvSpPr/>
          <p:nvPr/>
        </p:nvSpPr>
        <p:spPr>
          <a:xfrm>
            <a:off x="4786335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3" name="Shape 11"/>
          <p:cNvSpPr/>
          <p:nvPr/>
        </p:nvSpPr>
        <p:spPr>
          <a:xfrm>
            <a:off x="5319065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51886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5" name="Shape 13"/>
          <p:cNvSpPr/>
          <p:nvPr/>
        </p:nvSpPr>
        <p:spPr>
          <a:xfrm>
            <a:off x="6384707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6" name="Shape 14"/>
          <p:cNvSpPr/>
          <p:nvPr/>
        </p:nvSpPr>
        <p:spPr>
          <a:xfrm>
            <a:off x="6917527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7" name="Shape 15"/>
          <p:cNvSpPr/>
          <p:nvPr/>
        </p:nvSpPr>
        <p:spPr>
          <a:xfrm>
            <a:off x="7450348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8" name="Shape 16"/>
          <p:cNvSpPr/>
          <p:nvPr/>
        </p:nvSpPr>
        <p:spPr>
          <a:xfrm>
            <a:off x="7983078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19" name="Shape 17"/>
          <p:cNvSpPr/>
          <p:nvPr/>
        </p:nvSpPr>
        <p:spPr>
          <a:xfrm>
            <a:off x="8515899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20" name="Shape 18"/>
          <p:cNvSpPr/>
          <p:nvPr/>
        </p:nvSpPr>
        <p:spPr>
          <a:xfrm>
            <a:off x="9048720" y="2123968"/>
            <a:ext cx="104242" cy="865388"/>
          </a:xfrm>
          <a:prstGeom prst="rect">
            <a:avLst/>
          </a:prstGeom>
          <a:solidFill>
            <a:srgbClr val="007CC3"/>
          </a:solidFill>
          <a:ln/>
        </p:spPr>
      </p:sp>
      <p:sp>
        <p:nvSpPr>
          <p:cNvPr id="21" name="Text 19"/>
          <p:cNvSpPr/>
          <p:nvPr/>
        </p:nvSpPr>
        <p:spPr>
          <a:xfrm>
            <a:off x="393192" y="4608576"/>
            <a:ext cx="60258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Infosys Limited. All rights reserved. Operations Intelligence is a proprietary initiative of Infosys Limited.</a:t>
            </a:r>
            <a:endParaRPr lang="en-US" sz="7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4" y="4659782"/>
            <a:ext cx="909645" cy="46524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2026-06-22T09:53:23Z</dcterms:created>
  <dcterms:modified xsi:type="dcterms:W3CDTF">2026-06-22T09:53:23Z</dcterms:modified>
</cp:coreProperties>
</file>