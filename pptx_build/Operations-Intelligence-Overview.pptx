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"/>
            <a:ext cx="4937760" cy="5577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961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1"/>
          <p:cNvSpPr/>
          <p:nvPr/>
        </p:nvSpPr>
        <p:spPr>
          <a:xfrm>
            <a:off x="51169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2"/>
          <p:cNvSpPr/>
          <p:nvPr/>
        </p:nvSpPr>
        <p:spPr>
          <a:xfrm>
            <a:off x="103226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Shape 3"/>
          <p:cNvSpPr/>
          <p:nvPr/>
        </p:nvSpPr>
        <p:spPr>
          <a:xfrm>
            <a:off x="155283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Shape 4"/>
          <p:cNvSpPr/>
          <p:nvPr/>
        </p:nvSpPr>
        <p:spPr>
          <a:xfrm>
            <a:off x="207340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8" name="Shape 5"/>
          <p:cNvSpPr/>
          <p:nvPr/>
        </p:nvSpPr>
        <p:spPr>
          <a:xfrm>
            <a:off x="259397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9" name="Shape 6"/>
          <p:cNvSpPr/>
          <p:nvPr/>
        </p:nvSpPr>
        <p:spPr>
          <a:xfrm>
            <a:off x="311453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0" name="Shape 7"/>
          <p:cNvSpPr/>
          <p:nvPr/>
        </p:nvSpPr>
        <p:spPr>
          <a:xfrm>
            <a:off x="363510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Shape 8"/>
          <p:cNvSpPr/>
          <p:nvPr/>
        </p:nvSpPr>
        <p:spPr>
          <a:xfrm>
            <a:off x="5404653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2" name="Shape 9"/>
          <p:cNvSpPr/>
          <p:nvPr/>
        </p:nvSpPr>
        <p:spPr>
          <a:xfrm>
            <a:off x="592531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588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4" name="Shape 11"/>
          <p:cNvSpPr/>
          <p:nvPr/>
        </p:nvSpPr>
        <p:spPr>
          <a:xfrm>
            <a:off x="6966448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5" name="Shape 12"/>
          <p:cNvSpPr/>
          <p:nvPr/>
        </p:nvSpPr>
        <p:spPr>
          <a:xfrm>
            <a:off x="7487016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6" name="Shape 13"/>
          <p:cNvSpPr/>
          <p:nvPr/>
        </p:nvSpPr>
        <p:spPr>
          <a:xfrm>
            <a:off x="8007584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7" name="Shape 14"/>
          <p:cNvSpPr/>
          <p:nvPr/>
        </p:nvSpPr>
        <p:spPr>
          <a:xfrm>
            <a:off x="8528152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8" name="Shape 15"/>
          <p:cNvSpPr/>
          <p:nvPr/>
        </p:nvSpPr>
        <p:spPr>
          <a:xfrm>
            <a:off x="9048720" y="2154144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199" y="856701"/>
            <a:ext cx="832470" cy="345990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1945" y="3259104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81945" y="43891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ServiceNow Intelligent Automation Initiative — Infosys Operations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640080"/>
            <a:ext cx="8723376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7680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0976" y="93268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627632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92224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50976" y="1956816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651760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81635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50976" y="298094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of Automation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3675888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840480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50976" y="4005072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Desired State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4700016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7680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13248" y="93268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627632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792224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13248" y="1956816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Week 1 Progress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81635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13248" y="298094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675888"/>
            <a:ext cx="4279392" cy="10973"/>
          </a:xfrm>
          <a:prstGeom prst="rect">
            <a:avLst/>
          </a:prstGeom>
          <a:solidFill>
            <a:srgbClr val="D9D9D9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Context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694944"/>
            <a:ext cx="4023360" cy="310896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69494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4023360" cy="3236976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8" name="Shape 6"/>
          <p:cNvSpPr/>
          <p:nvPr/>
        </p:nvSpPr>
        <p:spPr>
          <a:xfrm>
            <a:off x="4919472" y="694944"/>
            <a:ext cx="4023360" cy="310896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9" name="Text 7"/>
          <p:cNvSpPr/>
          <p:nvPr/>
        </p:nvSpPr>
        <p:spPr>
          <a:xfrm>
            <a:off x="5047488" y="69494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OPERATIONS INTELLIGENCE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1005840"/>
            <a:ext cx="4023360" cy="3236976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1" name="Text 9"/>
          <p:cNvSpPr/>
          <p:nvPr/>
        </p:nvSpPr>
        <p:spPr>
          <a:xfrm>
            <a:off x="4242816" y="24231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" y="1225296"/>
            <a:ext cx="91440" cy="9144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1133856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tasks rebuilt manually each cycle — no established automation path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975104"/>
            <a:ext cx="91440" cy="9144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1883664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 and automation capabilities inactive across all teams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724912"/>
            <a:ext cx="91440" cy="9144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633472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reconciliation between ServiceNow and external sources requires manual field matching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474720"/>
            <a:ext cx="91440" cy="9144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383280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expertise concentrated in specific individuals, creating resource dependency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65776" y="1225296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1133856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task automated once executes permanently — manual rebuilds eliminated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65776" y="1975104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1883664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Virtual Agent provides natural-language access to all platform capabilities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65776" y="2724912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2633472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consolidation layer maps and merges data sources without manual intervention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65776" y="3474720"/>
            <a:ext cx="91440" cy="91440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3383280"/>
            <a:ext cx="3621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capability embedded in the system and equally accessible to all teams</a:t>
            </a:r>
            <a:endParaRPr lang="en-US" sz="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713232"/>
            <a:ext cx="8741664" cy="78638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914400"/>
            <a:ext cx="658368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9144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749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Consolidation Layer Between Data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987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Asset Management teams export data from ServiceNow and Flexera independently. No common field headers exist, requiring manual data cleansing and reconciliation each cycle.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82896" y="932688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8961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21808" y="7498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1808" y="96926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consolidation layer maps field headers between both sources and merges outputs automatically, eliminating manual reconciliation and ensuring consistent reporting on demand.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" y="1627632"/>
            <a:ext cx="8741664" cy="78638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" y="1828800"/>
            <a:ext cx="658368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" y="18288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16642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 Capability Active but Not Implemented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1901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Virtual Agent SKU is enabled on all ServiceNow instances but no implementation has been carried out, leaving operations teams without a conversational interface to platform capabilities.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82896" y="1847088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8105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21808" y="16642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188366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 implements the Virtual Agent as the primary interface for all automation requests, enabling every team member to create and manage automations through natural language.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542032"/>
            <a:ext cx="8741664" cy="78638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" y="2743200"/>
            <a:ext cx="658368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2743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5786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Manual Tasks Displacing Project Delivery Capacity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dashboards, and data extracts are rebuilt manually each operating cycle. The cumulative overhead displaces capacity that would otherwise be directed to project deliverables.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82896" y="2761488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27249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21808" y="25786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21808" y="279806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task requested once through Operations Intelligence is automated permanently. A single request eliminates the associated manual effort across all subsequent cycles.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3456432"/>
            <a:ext cx="8741664" cy="78638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33" name="Shape 31"/>
          <p:cNvSpPr/>
          <p:nvPr/>
        </p:nvSpPr>
        <p:spPr>
          <a:xfrm>
            <a:off x="201168" y="3657600"/>
            <a:ext cx="658368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201168" y="3657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34930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Blockers Lack a Structured Resolution Path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" y="3730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staff can articulate blockers in business terms but cannot translate them into technical specifications, causing issues to remain unresolved before reaching an approver.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82896" y="3675888"/>
            <a:ext cx="310896" cy="29260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38" name="Text 36"/>
          <p:cNvSpPr/>
          <p:nvPr/>
        </p:nvSpPr>
        <p:spPr>
          <a:xfrm>
            <a:off x="4882896" y="36393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21808" y="34930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1808" y="371246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Assistant converts a plain-English description into a structured specification and routes it automatically to the appropriate approver, removing the dependency on technical mediation.</a:t>
            </a:r>
            <a:endParaRPr lang="en-US" sz="9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of Automation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694944"/>
            <a:ext cx="8741664" cy="69494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768096"/>
            <a:ext cx="54864" cy="548640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49808"/>
            <a:ext cx="8467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manual tasks become permanent, single-request automations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67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report, dashboard, notification, or data extract rebuilt manually each cycle is requested once and executed automatically on a permanent basis. The cost of the work moves from recurring to one-time.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444752"/>
            <a:ext cx="8741664" cy="69494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" y="1517904"/>
            <a:ext cx="54864" cy="548640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99616"/>
            <a:ext cx="8467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blockers are resolved without technical mediation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8467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Assistant converts a requirement stated in plain English into a structured specification and routes it to the appropriate approver, removing the articulation barrier that strands issues today.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2194560"/>
            <a:ext cx="8741664" cy="69494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" y="2267712"/>
            <a:ext cx="54864" cy="548640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49424"/>
            <a:ext cx="8467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Dependence on the availability of scarce specialists is eliminated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505456"/>
            <a:ext cx="8467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capability is accessible through the Operations Assistant at all times. Expertise that currently resides in specific individuals is embedded in the system and available to all teams equally.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2944368"/>
            <a:ext cx="8741664" cy="69494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" y="3017520"/>
            <a:ext cx="54864" cy="548640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99232"/>
            <a:ext cx="8467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ServiceNow investment is realised as an automation platform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55264"/>
            <a:ext cx="8467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teams access automation capability through a natural-language interface requiring no prior technical knowledge. Platform adoption increases through use, without training programmes or specialist mediation.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694176"/>
            <a:ext cx="8741664" cy="69494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" y="3767328"/>
            <a:ext cx="54864" cy="548640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49040"/>
            <a:ext cx="8467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operates as an accelerator of delivery, not a constraint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005072"/>
            <a:ext cx="8467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retains real-time visibility and immediate override authority across all automations. Approval routing, deadline management, and escalation are handled automatically, eliminating governance as a bottleneck.</a:t>
            </a:r>
            <a:endParaRPr lang="en-US" sz="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Desired State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676656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OPERATIONS TEAM MEMBERS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1024128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704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requirement stated in plain English is fulfilled as a permanent automation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group automations accessible from a single personalised workspace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0116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technical knowledge is required at any point in the process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676656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DESIGNATED CREATORS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032" y="11704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designed through a structured guided conversation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16276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 generated and confirmed before being applied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20848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20116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automation lifecycle managed from a single studio interface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2615184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" y="2615184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LEADERSHIP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962656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1089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group automations visible in real time from a unified governance view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3493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Impactful changes route automatically for approval with defined escalation deadlines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automation deactivated immediately without technical intervention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615184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2615184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ORGANISATION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032" y="31089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36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capacity directed to project delivery rather than operational overhead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35661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38" name="Text 36"/>
          <p:cNvSpPr/>
          <p:nvPr/>
        </p:nvSpPr>
        <p:spPr>
          <a:xfrm>
            <a:off x="4974336" y="3493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automation patterns reusable across groups without duplication of effort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40233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40" name="Text 38"/>
          <p:cNvSpPr/>
          <p:nvPr/>
        </p:nvSpPr>
        <p:spPr>
          <a:xfrm>
            <a:off x="4974336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operates as the full automation platform it was designed to be</a:t>
            </a:r>
            <a:endParaRPr lang="en-US" sz="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676656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1024128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704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operations teams access a dedicated portal at a single URL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Role-appropriate sections displayed without page navigation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0116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enforced through existing ServiceNow role assignments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676656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67665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INTERFACE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24128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032" y="11704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platform interactions conducted through natural language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16276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5544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Assistant interprets requirements across all ServiceNow domains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2084832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20116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conversation produces the complete technical specification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2615184"/>
            <a:ext cx="4279392" cy="347472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" y="2615184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GOVERNANCE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962656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1089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requirements proportional to the impact of the requested change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3493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and escalation paths defined and automated for every pending action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retains immediate override authority across all group automations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615184"/>
            <a:ext cx="4279392" cy="347472"/>
          </a:xfrm>
          <a:prstGeom prst="rect">
            <a:avLst/>
          </a:prstGeom>
          <a:solidFill>
            <a:srgbClr val="2670C3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2615184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CREATION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4279392" cy="151790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032" y="31089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36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generates technical specifications when the user cannot supply them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35661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38" name="Text 36"/>
          <p:cNvSpPr/>
          <p:nvPr/>
        </p:nvSpPr>
        <p:spPr>
          <a:xfrm>
            <a:off x="4974336" y="3493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Copilot suggestions confirmed by the creator before being applied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4023360"/>
            <a:ext cx="73152" cy="73152"/>
          </a:xfrm>
          <a:prstGeom prst="ellipse">
            <a:avLst/>
          </a:prstGeom>
          <a:solidFill>
            <a:srgbClr val="2670C3"/>
          </a:solidFill>
          <a:ln/>
        </p:spPr>
      </p:sp>
      <p:sp>
        <p:nvSpPr>
          <p:cNvPr id="40" name="Text 38"/>
          <p:cNvSpPr/>
          <p:nvPr/>
        </p:nvSpPr>
        <p:spPr>
          <a:xfrm>
            <a:off x="4974336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technical knowledge is no longer required for automation design</a:t>
            </a:r>
            <a:endParaRPr lang="en-US" sz="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3" name="Shape 1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Week 1 Progress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Initiated and delivered within the first week of the initiative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8741664" cy="78638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932688"/>
            <a:ext cx="64008" cy="786384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124712" y="1024128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1161288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024128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48456" y="107899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1024128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the development instance; role-filtered sections fully operational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48456" y="1408176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3776472" y="1353312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role enforcement and modal-based workflows active across all sections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773936"/>
            <a:ext cx="8741664" cy="78638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" y="1773936"/>
            <a:ext cx="64008" cy="786384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1773936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124712" y="1865376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/>
          <p:nvPr/>
        </p:nvSpPr>
        <p:spPr>
          <a:xfrm>
            <a:off x="1161288" y="1865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1865376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48456" y="192024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3" name="Text 21"/>
          <p:cNvSpPr/>
          <p:nvPr/>
        </p:nvSpPr>
        <p:spPr>
          <a:xfrm>
            <a:off x="3776472" y="1865376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Access, Users, Groups, and Pending Actions tabs live with full workflow support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48456" y="2249424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25" name="Text 23"/>
          <p:cNvSpPr/>
          <p:nvPr/>
        </p:nvSpPr>
        <p:spPr>
          <a:xfrm>
            <a:off x="3776472" y="2194560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routing, deadline management, and escalation automated end-to-end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2615184"/>
            <a:ext cx="8741664" cy="786384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" y="2615184"/>
            <a:ext cx="64008" cy="786384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2615184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1124712" y="2706624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1161288" y="2706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Module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11880" y="2706624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30"/>
          <p:cNvSpPr/>
          <p:nvPr/>
        </p:nvSpPr>
        <p:spPr>
          <a:xfrm>
            <a:off x="3648456" y="2761488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33" name="Text 31"/>
          <p:cNvSpPr/>
          <p:nvPr/>
        </p:nvSpPr>
        <p:spPr>
          <a:xfrm>
            <a:off x="3776472" y="2706624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and Deliverables tabs operational with create-and-publish workflow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48456" y="3090672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35" name="Text 33"/>
          <p:cNvSpPr/>
          <p:nvPr/>
        </p:nvSpPr>
        <p:spPr>
          <a:xfrm>
            <a:off x="3776472" y="3035808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scope enforced per creator role; approval routing active on every publish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3456432"/>
            <a:ext cx="8741664" cy="786384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" y="3456432"/>
            <a:ext cx="64008" cy="786384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38" name="Text 36"/>
          <p:cNvSpPr/>
          <p:nvPr/>
        </p:nvSpPr>
        <p:spPr>
          <a:xfrm>
            <a:off x="301752" y="3456432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1124712" y="3547872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0" name="Text 38"/>
          <p:cNvSpPr/>
          <p:nvPr/>
        </p:nvSpPr>
        <p:spPr>
          <a:xfrm>
            <a:off x="1161288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Assistant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11880" y="3547872"/>
            <a:ext cx="10973" cy="6035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2" name="Shape 40"/>
          <p:cNvSpPr/>
          <p:nvPr/>
        </p:nvSpPr>
        <p:spPr>
          <a:xfrm>
            <a:off x="3648456" y="3602736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43" name="Text 41"/>
          <p:cNvSpPr/>
          <p:nvPr/>
        </p:nvSpPr>
        <p:spPr>
          <a:xfrm>
            <a:off x="3776472" y="3547872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spanning 50+ ServiceNow domains with three-layer NLU processing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48456" y="3931920"/>
            <a:ext cx="73152" cy="73152"/>
          </a:xfrm>
          <a:prstGeom prst="ellipse">
            <a:avLst/>
          </a:prstGeom>
          <a:solidFill>
            <a:srgbClr val="007CC3"/>
          </a:solidFill>
          <a:ln/>
        </p:spPr>
      </p:sp>
      <p:sp>
        <p:nvSpPr>
          <p:cNvPr id="45" name="Text 43"/>
          <p:cNvSpPr/>
          <p:nvPr/>
        </p:nvSpPr>
        <p:spPr>
          <a:xfrm>
            <a:off x="3776472" y="3877056"/>
            <a:ext cx="5093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mode active; single-term and phrase-level queries answered immediately</a:t>
            </a:r>
            <a:endParaRPr lang="en-US" sz="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8723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640080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— all implementation documentation, source code, and AI instructions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8741664" cy="347472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005840"/>
            <a:ext cx="8613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389888"/>
            <a:ext cx="8741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https://github.com/nassim-louzaoui/servicenow-solutions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737360"/>
            <a:ext cx="6144768" cy="2889504"/>
          </a:xfrm>
          <a:prstGeom prst="rect">
            <a:avLst/>
          </a:prstGeom>
          <a:solidFill>
            <a:srgbClr val="EBF4F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999232"/>
            <a:ext cx="6144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Repository Screenshot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10528" y="1737360"/>
            <a:ext cx="2432304" cy="1408176"/>
          </a:xfrm>
          <a:prstGeom prst="rect">
            <a:avLst/>
          </a:prstGeom>
          <a:solidFill>
            <a:srgbClr val="EB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792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0" y="20848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.github/copilot-instructions.md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context/ (01–05)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6883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implementation/source/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8895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reference/glossary.md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10528" y="3218688"/>
            <a:ext cx="2432304" cy="1408176"/>
          </a:xfrm>
          <a:prstGeom prst="rect">
            <a:avLst/>
          </a:prstGeom>
          <a:solidFill>
            <a:srgbClr val="F5FA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273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COPILOT USERS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3566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Auto-loaded AI instructions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767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engine API reference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50+ knowledge topics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41696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data model</a:t>
            </a:r>
            <a:endParaRPr lang="en-US" sz="9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28600" y="4754880"/>
            <a:ext cx="46634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1289304"/>
            <a:ext cx="3172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-896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4" name="Shape 2"/>
          <p:cNvSpPr/>
          <p:nvPr/>
        </p:nvSpPr>
        <p:spPr>
          <a:xfrm>
            <a:off x="52386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5" name="Shape 3"/>
          <p:cNvSpPr/>
          <p:nvPr/>
        </p:nvSpPr>
        <p:spPr>
          <a:xfrm>
            <a:off x="1056681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6" name="Shape 4"/>
          <p:cNvSpPr/>
          <p:nvPr/>
        </p:nvSpPr>
        <p:spPr>
          <a:xfrm>
            <a:off x="158950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7" name="Shape 5"/>
          <p:cNvSpPr/>
          <p:nvPr/>
        </p:nvSpPr>
        <p:spPr>
          <a:xfrm>
            <a:off x="212232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8" name="Shape 6"/>
          <p:cNvSpPr/>
          <p:nvPr/>
        </p:nvSpPr>
        <p:spPr>
          <a:xfrm>
            <a:off x="2655052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9" name="Shape 7"/>
          <p:cNvSpPr/>
          <p:nvPr/>
        </p:nvSpPr>
        <p:spPr>
          <a:xfrm>
            <a:off x="3187873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0" name="Shape 8"/>
          <p:cNvSpPr/>
          <p:nvPr/>
        </p:nvSpPr>
        <p:spPr>
          <a:xfrm>
            <a:off x="372069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1" name="Shape 9"/>
          <p:cNvSpPr/>
          <p:nvPr/>
        </p:nvSpPr>
        <p:spPr>
          <a:xfrm>
            <a:off x="4253514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633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9065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1886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470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6" name="Shape 14"/>
          <p:cNvSpPr/>
          <p:nvPr/>
        </p:nvSpPr>
        <p:spPr>
          <a:xfrm>
            <a:off x="6917527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034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83078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9" name="Shape 17"/>
          <p:cNvSpPr/>
          <p:nvPr/>
        </p:nvSpPr>
        <p:spPr>
          <a:xfrm>
            <a:off x="8515899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8720" y="2123968"/>
            <a:ext cx="104242" cy="86538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4608576"/>
            <a:ext cx="6025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Infosys Limited. All rights reserved. Operations Intelligence is a proprietary initiative of Infosys Limited.</a:t>
            </a:r>
            <a:endParaRPr lang="en-US" sz="7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4" y="4659782"/>
            <a:ext cx="909645" cy="465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2026-06-22T09:25:10Z</dcterms:created>
  <dcterms:modified xsi:type="dcterms:W3CDTF">2026-06-22T09:25:10Z</dcterms:modified>
</cp:coreProperties>
</file>